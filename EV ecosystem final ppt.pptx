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libri (MS) Bold" charset="1" panose="020F0702030404030204"/>
      <p:regular r:id="rId26"/>
    </p:embeddedFont>
    <p:embeddedFont>
      <p:font typeface="Cooper BT Light" charset="1" panose="0208050304030B020404"/>
      <p:regular r:id="rId27"/>
    </p:embeddedFont>
    <p:embeddedFont>
      <p:font typeface="Cambria" charset="1" panose="02040503050406030204"/>
      <p:regular r:id="rId28"/>
    </p:embeddedFont>
    <p:embeddedFont>
      <p:font typeface="Canva Sans Bold" charset="1" panose="020B0803030501040103"/>
      <p:regular r:id="rId29"/>
    </p:embeddedFont>
    <p:embeddedFont>
      <p:font typeface="Times New Roman Bold" charset="1" panose="02020803070505020304"/>
      <p:regular r:id="rId30"/>
    </p:embeddedFont>
    <p:embeddedFont>
      <p:font typeface="Canva Sans" charset="1" panose="020B0503030501040103"/>
      <p:regular r:id="rId31"/>
    </p:embeddedFont>
    <p:embeddedFont>
      <p:font typeface="Barlow Condensed Semi-Bold" charset="1" panose="00000706000000000000"/>
      <p:regular r:id="rId32"/>
    </p:embeddedFont>
    <p:embeddedFont>
      <p:font typeface="Roboto" charset="1" panose="02000000000000000000"/>
      <p:regular r:id="rId33"/>
    </p:embeddedFont>
    <p:embeddedFont>
      <p:font typeface="Roboto Bold" charset="1" panose="02000000000000000000"/>
      <p:regular r:id="rId34"/>
    </p:embeddedFont>
    <p:embeddedFont>
      <p:font typeface="Copperplate Gothic 32 AB Bold" charset="1" panose="020E07070202060204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2" Target="../media/image3.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svg" Type="http://schemas.openxmlformats.org/officeDocument/2006/relationships/image"/><Relationship Id="rId8" Target="../media/image15.sv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31.png" Type="http://schemas.openxmlformats.org/officeDocument/2006/relationships/image"/><Relationship Id="rId14" Target="../media/image32.svg" Type="http://schemas.openxmlformats.org/officeDocument/2006/relationships/image"/><Relationship Id="rId2" Target="../media/image3.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13" Target="../media/image44.png" Type="http://schemas.openxmlformats.org/officeDocument/2006/relationships/image"/><Relationship Id="rId14" Target="../media/image45.svg" Type="http://schemas.openxmlformats.org/officeDocument/2006/relationships/image"/><Relationship Id="rId15" Target="../media/image46.png" Type="http://schemas.openxmlformats.org/officeDocument/2006/relationships/image"/><Relationship Id="rId16" Target="../media/image47.svg" Type="http://schemas.openxmlformats.org/officeDocument/2006/relationships/image"/><Relationship Id="rId2" Target="../media/image3.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8.png" Type="http://schemas.openxmlformats.org/officeDocument/2006/relationships/image"/><Relationship Id="rId4"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svg" Type="http://schemas.openxmlformats.org/officeDocument/2006/relationships/image"/><Relationship Id="rId2" Target="../media/image3.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media/image5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2.png" Type="http://schemas.openxmlformats.org/officeDocument/2006/relationships/image"/><Relationship Id="rId4" Target="../media/image6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4.png" Type="http://schemas.openxmlformats.org/officeDocument/2006/relationships/image"/><Relationship Id="rId4" Target="../media/image6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97888" y="7808082"/>
            <a:ext cx="2536305" cy="2141773"/>
          </a:xfrm>
          <a:custGeom>
            <a:avLst/>
            <a:gdLst/>
            <a:ahLst/>
            <a:cxnLst/>
            <a:rect r="r" b="b" t="t" l="l"/>
            <a:pathLst>
              <a:path h="2141773" w="2536305">
                <a:moveTo>
                  <a:pt x="0" y="0"/>
                </a:moveTo>
                <a:lnTo>
                  <a:pt x="2536306" y="0"/>
                </a:lnTo>
                <a:lnTo>
                  <a:pt x="2536306" y="2141772"/>
                </a:lnTo>
                <a:lnTo>
                  <a:pt x="0" y="2141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525" y="-9525"/>
            <a:ext cx="18307050" cy="1159786"/>
            <a:chOff x="0" y="0"/>
            <a:chExt cx="24409400" cy="1546382"/>
          </a:xfrm>
        </p:grpSpPr>
        <p:sp>
          <p:nvSpPr>
            <p:cNvPr name="Freeform 4" id="4"/>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5" id="5"/>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6" id="6"/>
          <p:cNvGrpSpPr>
            <a:grpSpLocks noChangeAspect="true"/>
          </p:cNvGrpSpPr>
          <p:nvPr/>
        </p:nvGrpSpPr>
        <p:grpSpPr>
          <a:xfrm rot="0">
            <a:off x="0" y="1137396"/>
            <a:ext cx="3571591" cy="1718842"/>
            <a:chOff x="0" y="0"/>
            <a:chExt cx="4762122" cy="2291790"/>
          </a:xfrm>
        </p:grpSpPr>
        <p:sp>
          <p:nvSpPr>
            <p:cNvPr name="Freeform 7" id="7"/>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4"/>
              <a:stretch>
                <a:fillRect l="0" t="-43" r="0" b="-41"/>
              </a:stretch>
            </a:blipFill>
          </p:spPr>
        </p:sp>
      </p:grpSp>
      <p:grpSp>
        <p:nvGrpSpPr>
          <p:cNvPr name="Group 8" id="8"/>
          <p:cNvGrpSpPr/>
          <p:nvPr/>
        </p:nvGrpSpPr>
        <p:grpSpPr>
          <a:xfrm rot="0">
            <a:off x="0" y="10117246"/>
            <a:ext cx="18288000" cy="179981"/>
            <a:chOff x="0" y="0"/>
            <a:chExt cx="24384000" cy="239974"/>
          </a:xfrm>
        </p:grpSpPr>
        <p:sp>
          <p:nvSpPr>
            <p:cNvPr name="Freeform 9" id="9"/>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grpSp>
        <p:nvGrpSpPr>
          <p:cNvPr name="Group 10" id="10"/>
          <p:cNvGrpSpPr>
            <a:grpSpLocks noChangeAspect="true"/>
          </p:cNvGrpSpPr>
          <p:nvPr/>
        </p:nvGrpSpPr>
        <p:grpSpPr>
          <a:xfrm rot="0">
            <a:off x="254828" y="7822923"/>
            <a:ext cx="7262105" cy="2097588"/>
            <a:chOff x="0" y="0"/>
            <a:chExt cx="9682806" cy="2796784"/>
          </a:xfrm>
        </p:grpSpPr>
        <p:sp>
          <p:nvSpPr>
            <p:cNvPr name="Freeform 11" id="11"/>
            <p:cNvSpPr/>
            <p:nvPr/>
          </p:nvSpPr>
          <p:spPr>
            <a:xfrm flipH="false" flipV="false" rot="0">
              <a:off x="0" y="0"/>
              <a:ext cx="9682861" cy="2796794"/>
            </a:xfrm>
            <a:custGeom>
              <a:avLst/>
              <a:gdLst/>
              <a:ahLst/>
              <a:cxnLst/>
              <a:rect r="r" b="b" t="t" l="l"/>
              <a:pathLst>
                <a:path h="2796794" w="9682861">
                  <a:moveTo>
                    <a:pt x="0" y="0"/>
                  </a:moveTo>
                  <a:lnTo>
                    <a:pt x="9682861" y="0"/>
                  </a:lnTo>
                  <a:lnTo>
                    <a:pt x="9682861" y="2796794"/>
                  </a:lnTo>
                  <a:lnTo>
                    <a:pt x="0" y="2796794"/>
                  </a:lnTo>
                  <a:lnTo>
                    <a:pt x="0" y="0"/>
                  </a:lnTo>
                  <a:close/>
                </a:path>
              </a:pathLst>
            </a:custGeom>
            <a:blipFill>
              <a:blip r:embed="rId5"/>
              <a:stretch>
                <a:fillRect l="0" t="0" r="0" b="0"/>
              </a:stretch>
            </a:blipFill>
          </p:spPr>
        </p:sp>
      </p:grpSp>
      <p:sp>
        <p:nvSpPr>
          <p:cNvPr name="TextBox 12" id="12"/>
          <p:cNvSpPr txBox="true"/>
          <p:nvPr/>
        </p:nvSpPr>
        <p:spPr>
          <a:xfrm rot="0">
            <a:off x="4863075" y="9103558"/>
            <a:ext cx="3931918" cy="514350"/>
          </a:xfrm>
          <a:prstGeom prst="rect">
            <a:avLst/>
          </a:prstGeom>
        </p:spPr>
        <p:txBody>
          <a:bodyPr anchor="t" rtlCol="false" tIns="0" lIns="0" bIns="0" rIns="0">
            <a:spAutoFit/>
          </a:bodyPr>
          <a:lstStyle/>
          <a:p>
            <a:pPr algn="l">
              <a:lnSpc>
                <a:spcPts val="3240"/>
              </a:lnSpc>
            </a:pPr>
            <a:r>
              <a:rPr lang="en-US" sz="2700" b="true">
                <a:solidFill>
                  <a:srgbClr val="595959"/>
                </a:solidFill>
                <a:latin typeface="Calibri (MS) Bold"/>
                <a:ea typeface="Calibri (MS) Bold"/>
                <a:cs typeface="Calibri (MS) Bold"/>
                <a:sym typeface="Calibri (MS) Bold"/>
              </a:rPr>
              <a:t>, HYDERABAD</a:t>
            </a:r>
          </a:p>
        </p:txBody>
      </p:sp>
      <p:sp>
        <p:nvSpPr>
          <p:cNvPr name="TextBox 13" id="13"/>
          <p:cNvSpPr txBox="true"/>
          <p:nvPr/>
        </p:nvSpPr>
        <p:spPr>
          <a:xfrm rot="0">
            <a:off x="1785796" y="3740154"/>
            <a:ext cx="15250620" cy="1943100"/>
          </a:xfrm>
          <a:prstGeom prst="rect">
            <a:avLst/>
          </a:prstGeom>
        </p:spPr>
        <p:txBody>
          <a:bodyPr anchor="t" rtlCol="false" tIns="0" lIns="0" bIns="0" rIns="0">
            <a:spAutoFit/>
          </a:bodyPr>
          <a:lstStyle/>
          <a:p>
            <a:pPr algn="ctr">
              <a:lnSpc>
                <a:spcPts val="7667"/>
              </a:lnSpc>
            </a:pPr>
            <a:r>
              <a:rPr lang="en-US" sz="6389">
                <a:solidFill>
                  <a:srgbClr val="C00000"/>
                </a:solidFill>
                <a:latin typeface="Cooper BT Light"/>
                <a:ea typeface="Cooper BT Light"/>
                <a:cs typeface="Cooper BT Light"/>
                <a:sym typeface="Cooper BT Light"/>
              </a:rPr>
              <a:t>Electric Vehicle Ecosy</a:t>
            </a:r>
            <a:r>
              <a:rPr lang="en-US" sz="6389">
                <a:solidFill>
                  <a:srgbClr val="C00000"/>
                </a:solidFill>
                <a:latin typeface="Cooper BT Light"/>
                <a:ea typeface="Cooper BT Light"/>
                <a:cs typeface="Cooper BT Light"/>
                <a:sym typeface="Cooper BT Light"/>
              </a:rPr>
              <a:t>stem for Navigation (EVOS)</a:t>
            </a:r>
          </a:p>
        </p:txBody>
      </p:sp>
      <p:sp>
        <p:nvSpPr>
          <p:cNvPr name="TextBox 14" id="14"/>
          <p:cNvSpPr txBox="true"/>
          <p:nvPr/>
        </p:nvSpPr>
        <p:spPr>
          <a:xfrm rot="0">
            <a:off x="8034194" y="8606032"/>
            <a:ext cx="6238442" cy="1011877"/>
          </a:xfrm>
          <a:prstGeom prst="rect">
            <a:avLst/>
          </a:prstGeom>
        </p:spPr>
        <p:txBody>
          <a:bodyPr anchor="t" rtlCol="false" tIns="0" lIns="0" bIns="0" rIns="0">
            <a:spAutoFit/>
          </a:bodyPr>
          <a:lstStyle/>
          <a:p>
            <a:pPr algn="l">
              <a:lnSpc>
                <a:spcPts val="3958"/>
              </a:lnSpc>
            </a:pPr>
            <a:r>
              <a:rPr lang="en-US" sz="3298">
                <a:solidFill>
                  <a:srgbClr val="000000"/>
                </a:solidFill>
                <a:latin typeface="Cambria"/>
                <a:ea typeface="Cambria"/>
                <a:cs typeface="Cambria"/>
                <a:sym typeface="Cambria"/>
              </a:rPr>
              <a:t>G Pragnya Reddy (70572200054)</a:t>
            </a:r>
          </a:p>
          <a:p>
            <a:pPr algn="l">
              <a:lnSpc>
                <a:spcPts val="3958"/>
              </a:lnSpc>
            </a:pPr>
            <a:r>
              <a:rPr lang="en-US" sz="3298">
                <a:solidFill>
                  <a:srgbClr val="000000"/>
                </a:solidFill>
                <a:latin typeface="Cambria"/>
                <a:ea typeface="Cambria"/>
                <a:cs typeface="Cambria"/>
                <a:sym typeface="Cambria"/>
              </a:rPr>
              <a:t>Narahari Abhinav (70572200031)</a:t>
            </a:r>
          </a:p>
        </p:txBody>
      </p:sp>
      <p:sp>
        <p:nvSpPr>
          <p:cNvPr name="TextBox 15" id="15"/>
          <p:cNvSpPr txBox="true"/>
          <p:nvPr/>
        </p:nvSpPr>
        <p:spPr>
          <a:xfrm rot="0">
            <a:off x="5745640" y="2846713"/>
            <a:ext cx="6796719" cy="444420"/>
          </a:xfrm>
          <a:prstGeom prst="rect">
            <a:avLst/>
          </a:prstGeom>
        </p:spPr>
        <p:txBody>
          <a:bodyPr anchor="t" rtlCol="false" tIns="0" lIns="0" bIns="0" rIns="0">
            <a:spAutoFit/>
          </a:bodyPr>
          <a:lstStyle/>
          <a:p>
            <a:pPr algn="ctr">
              <a:lnSpc>
                <a:spcPts val="3430"/>
              </a:lnSpc>
            </a:pPr>
            <a:r>
              <a:rPr lang="en-US" sz="2859">
                <a:solidFill>
                  <a:srgbClr val="C00000"/>
                </a:solidFill>
                <a:latin typeface="Cooper BT Light"/>
                <a:ea typeface="Cooper BT Light"/>
                <a:cs typeface="Cooper BT Light"/>
                <a:sym typeface="Cooper BT Light"/>
              </a:rPr>
              <a:t>Capstone Project Presentation</a:t>
            </a:r>
          </a:p>
        </p:txBody>
      </p:sp>
      <p:sp>
        <p:nvSpPr>
          <p:cNvPr name="TextBox 16" id="16"/>
          <p:cNvSpPr txBox="true"/>
          <p:nvPr/>
        </p:nvSpPr>
        <p:spPr>
          <a:xfrm rot="0">
            <a:off x="8034194" y="7765773"/>
            <a:ext cx="2893729" cy="507373"/>
          </a:xfrm>
          <a:prstGeom prst="rect">
            <a:avLst/>
          </a:prstGeom>
        </p:spPr>
        <p:txBody>
          <a:bodyPr anchor="t" rtlCol="false" tIns="0" lIns="0" bIns="0" rIns="0">
            <a:spAutoFit/>
          </a:bodyPr>
          <a:lstStyle/>
          <a:p>
            <a:pPr algn="ctr">
              <a:lnSpc>
                <a:spcPts val="4139"/>
              </a:lnSpc>
            </a:pPr>
            <a:r>
              <a:rPr lang="en-US" sz="2956" b="true">
                <a:solidFill>
                  <a:srgbClr val="000000"/>
                </a:solidFill>
                <a:latin typeface="Canva Sans Bold"/>
                <a:ea typeface="Canva Sans Bold"/>
                <a:cs typeface="Canva Sans Bold"/>
                <a:sym typeface="Canva Sans Bold"/>
              </a:rPr>
              <a:t>Te</a:t>
            </a:r>
            <a:r>
              <a:rPr lang="en-US" b="true" sz="2956">
                <a:solidFill>
                  <a:srgbClr val="000000"/>
                </a:solidFill>
                <a:latin typeface="Canva Sans Bold"/>
                <a:ea typeface="Canva Sans Bold"/>
                <a:cs typeface="Canva Sans Bold"/>
                <a:sym typeface="Canva Sans Bold"/>
              </a:rPr>
              <a:t>am Members:</a:t>
            </a:r>
          </a:p>
        </p:txBody>
      </p:sp>
      <p:sp>
        <p:nvSpPr>
          <p:cNvPr name="TextBox 17" id="17"/>
          <p:cNvSpPr txBox="true"/>
          <p:nvPr/>
        </p:nvSpPr>
        <p:spPr>
          <a:xfrm rot="0">
            <a:off x="15289869" y="7750932"/>
            <a:ext cx="1453093" cy="507373"/>
          </a:xfrm>
          <a:prstGeom prst="rect">
            <a:avLst/>
          </a:prstGeom>
        </p:spPr>
        <p:txBody>
          <a:bodyPr anchor="t" rtlCol="false" tIns="0" lIns="0" bIns="0" rIns="0">
            <a:spAutoFit/>
          </a:bodyPr>
          <a:lstStyle/>
          <a:p>
            <a:pPr algn="ctr">
              <a:lnSpc>
                <a:spcPts val="4139"/>
              </a:lnSpc>
            </a:pPr>
            <a:r>
              <a:rPr lang="en-US" sz="2956" b="true">
                <a:solidFill>
                  <a:srgbClr val="000000"/>
                </a:solidFill>
                <a:latin typeface="Canva Sans Bold"/>
                <a:ea typeface="Canva Sans Bold"/>
                <a:cs typeface="Canva Sans Bold"/>
                <a:sym typeface="Canva Sans Bold"/>
              </a:rPr>
              <a:t>Mentor:</a:t>
            </a:r>
          </a:p>
        </p:txBody>
      </p:sp>
      <p:sp>
        <p:nvSpPr>
          <p:cNvPr name="TextBox 18" id="18"/>
          <p:cNvSpPr txBox="true"/>
          <p:nvPr/>
        </p:nvSpPr>
        <p:spPr>
          <a:xfrm rot="0">
            <a:off x="15024001" y="8564519"/>
            <a:ext cx="2809409" cy="1011877"/>
          </a:xfrm>
          <a:prstGeom prst="rect">
            <a:avLst/>
          </a:prstGeom>
        </p:spPr>
        <p:txBody>
          <a:bodyPr anchor="t" rtlCol="false" tIns="0" lIns="0" bIns="0" rIns="0">
            <a:spAutoFit/>
          </a:bodyPr>
          <a:lstStyle/>
          <a:p>
            <a:pPr algn="l">
              <a:lnSpc>
                <a:spcPts val="3958"/>
              </a:lnSpc>
            </a:pPr>
            <a:r>
              <a:rPr lang="en-US" sz="3298">
                <a:solidFill>
                  <a:srgbClr val="000000"/>
                </a:solidFill>
                <a:latin typeface="Cambria"/>
                <a:ea typeface="Cambria"/>
                <a:cs typeface="Cambria"/>
                <a:sym typeface="Cambria"/>
              </a:rPr>
              <a:t>Prof. Vinayak Mukkawar</a:t>
            </a:r>
          </a:p>
        </p:txBody>
      </p:sp>
      <p:sp>
        <p:nvSpPr>
          <p:cNvPr name="AutoShape 19" id="19"/>
          <p:cNvSpPr/>
          <p:nvPr/>
        </p:nvSpPr>
        <p:spPr>
          <a:xfrm flipV="true">
            <a:off x="14514773" y="8273146"/>
            <a:ext cx="0" cy="1472633"/>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6700915" y="3690719"/>
            <a:ext cx="5133555" cy="5340810"/>
          </a:xfrm>
          <a:custGeom>
            <a:avLst/>
            <a:gdLst/>
            <a:ahLst/>
            <a:cxnLst/>
            <a:rect r="r" b="b" t="t" l="l"/>
            <a:pathLst>
              <a:path h="5340810" w="5133555">
                <a:moveTo>
                  <a:pt x="0" y="0"/>
                </a:moveTo>
                <a:lnTo>
                  <a:pt x="5133555" y="0"/>
                </a:lnTo>
                <a:lnTo>
                  <a:pt x="5133555" y="5340811"/>
                </a:lnTo>
                <a:lnTo>
                  <a:pt x="0" y="5340811"/>
                </a:lnTo>
                <a:lnTo>
                  <a:pt x="0" y="0"/>
                </a:lnTo>
                <a:close/>
              </a:path>
            </a:pathLst>
          </a:custGeom>
          <a:blipFill>
            <a:blip r:embed="rId3"/>
            <a:stretch>
              <a:fillRect l="0" t="0" r="0" b="0"/>
            </a:stretch>
          </a:blipFill>
        </p:spPr>
      </p:sp>
      <p:sp>
        <p:nvSpPr>
          <p:cNvPr name="TextBox 10" id="10"/>
          <p:cNvSpPr txBox="true"/>
          <p:nvPr/>
        </p:nvSpPr>
        <p:spPr>
          <a:xfrm rot="0">
            <a:off x="7011233" y="2179527"/>
            <a:ext cx="426553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Scan the App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1600592" y="6127062"/>
            <a:ext cx="6415603" cy="3680952"/>
          </a:xfrm>
          <a:custGeom>
            <a:avLst/>
            <a:gdLst/>
            <a:ahLst/>
            <a:cxnLst/>
            <a:rect r="r" b="b" t="t" l="l"/>
            <a:pathLst>
              <a:path h="3680952" w="6415603">
                <a:moveTo>
                  <a:pt x="0" y="0"/>
                </a:moveTo>
                <a:lnTo>
                  <a:pt x="6415603" y="0"/>
                </a:lnTo>
                <a:lnTo>
                  <a:pt x="6415603" y="3680952"/>
                </a:lnTo>
                <a:lnTo>
                  <a:pt x="0" y="36809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7962543" y="1327465"/>
            <a:ext cx="2362914"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Abstract</a:t>
            </a:r>
          </a:p>
        </p:txBody>
      </p:sp>
      <p:sp>
        <p:nvSpPr>
          <p:cNvPr name="TextBox 11" id="11"/>
          <p:cNvSpPr txBox="true"/>
          <p:nvPr/>
        </p:nvSpPr>
        <p:spPr>
          <a:xfrm rot="0">
            <a:off x="601653" y="3084839"/>
            <a:ext cx="17084694" cy="5477924"/>
          </a:xfrm>
          <a:prstGeom prst="rect">
            <a:avLst/>
          </a:prstGeom>
        </p:spPr>
        <p:txBody>
          <a:bodyPr anchor="t" rtlCol="false" tIns="0" lIns="0" bIns="0" rIns="0">
            <a:spAutoFit/>
          </a:bodyPr>
          <a:lstStyle/>
          <a:p>
            <a:pPr algn="l" marL="557824" indent="-278912" lvl="1">
              <a:lnSpc>
                <a:spcPts val="3617"/>
              </a:lnSpc>
              <a:buFont typeface="Arial"/>
              <a:buChar char="•"/>
            </a:pPr>
            <a:r>
              <a:rPr lang="en-US" sz="2583">
                <a:solidFill>
                  <a:srgbClr val="000000"/>
                </a:solidFill>
                <a:latin typeface="Canva Sans"/>
                <a:ea typeface="Canva Sans"/>
                <a:cs typeface="Canva Sans"/>
                <a:sym typeface="Canva Sans"/>
              </a:rPr>
              <a:t>The</a:t>
            </a:r>
            <a:r>
              <a:rPr lang="en-US" sz="2583">
                <a:solidFill>
                  <a:srgbClr val="000000"/>
                </a:solidFill>
                <a:latin typeface="Canva Sans"/>
                <a:ea typeface="Canva Sans"/>
                <a:cs typeface="Canva Sans"/>
                <a:sym typeface="Canva Sans"/>
              </a:rPr>
              <a:t> adoption of electric vehicles in India is limited by unreliable charging information, range anxiety, and the lack of integrated navigation and emergency support. </a:t>
            </a:r>
          </a:p>
          <a:p>
            <a:pPr algn="l" marL="557824" indent="-278912" lvl="1">
              <a:lnSpc>
                <a:spcPts val="3617"/>
              </a:lnSpc>
              <a:buFont typeface="Arial"/>
              <a:buChar char="•"/>
            </a:pPr>
            <a:r>
              <a:rPr lang="en-US" sz="2583">
                <a:solidFill>
                  <a:srgbClr val="000000"/>
                </a:solidFill>
                <a:latin typeface="Canva Sans"/>
                <a:ea typeface="Canva Sans"/>
                <a:cs typeface="Canva Sans"/>
                <a:sym typeface="Canva Sans"/>
              </a:rPr>
              <a:t>This project addresses these issues by developing a unified mobile application that provides real-time charging station discovery, intelligent route guidance based on battery levels, and instant SOS assistance. </a:t>
            </a:r>
          </a:p>
          <a:p>
            <a:pPr algn="l" marL="557824" indent="-278912" lvl="1">
              <a:lnSpc>
                <a:spcPts val="3617"/>
              </a:lnSpc>
              <a:buFont typeface="Arial"/>
              <a:buChar char="•"/>
            </a:pPr>
            <a:r>
              <a:rPr lang="en-US" sz="2583">
                <a:solidFill>
                  <a:srgbClr val="000000"/>
                </a:solidFill>
                <a:latin typeface="Canva Sans"/>
                <a:ea typeface="Canva Sans"/>
                <a:cs typeface="Canva Sans"/>
                <a:sym typeface="Canva Sans"/>
              </a:rPr>
              <a:t>The system is built using a cross-platform framework with a cloud-based backend, real-time database, and Google Maps APIs. </a:t>
            </a:r>
          </a:p>
          <a:p>
            <a:pPr algn="l" marL="557824" indent="-278912" lvl="1">
              <a:lnSpc>
                <a:spcPts val="3617"/>
              </a:lnSpc>
              <a:buFont typeface="Arial"/>
              <a:buChar char="•"/>
            </a:pPr>
            <a:r>
              <a:rPr lang="en-US" sz="2583">
                <a:solidFill>
                  <a:srgbClr val="000000"/>
                </a:solidFill>
                <a:latin typeface="Canva Sans"/>
                <a:ea typeface="Canva Sans"/>
                <a:cs typeface="Canva Sans"/>
                <a:sym typeface="Canva Sans"/>
              </a:rPr>
              <a:t>The approach includes modules for authentication, station mapping, dynamic routing,                emergency support, and community-driven station contributions. </a:t>
            </a:r>
          </a:p>
          <a:p>
            <a:pPr algn="l" marL="557824" indent="-278912" lvl="1">
              <a:lnSpc>
                <a:spcPts val="3617"/>
              </a:lnSpc>
              <a:buFont typeface="Arial"/>
              <a:buChar char="•"/>
            </a:pPr>
            <a:r>
              <a:rPr lang="en-US" sz="2583">
                <a:solidFill>
                  <a:srgbClr val="000000"/>
                </a:solidFill>
                <a:latin typeface="Canva Sans"/>
                <a:ea typeface="Canva Sans"/>
                <a:cs typeface="Canva Sans"/>
                <a:sym typeface="Canva Sans"/>
              </a:rPr>
              <a:t>Results show fast station retrieval, accurate polyline navigation,                                                               effective emergency response, and scalable data growth </a:t>
            </a:r>
          </a:p>
          <a:p>
            <a:pPr algn="l">
              <a:lnSpc>
                <a:spcPts val="3617"/>
              </a:lnSpc>
            </a:pPr>
            <a:r>
              <a:rPr lang="en-US" sz="2583">
                <a:solidFill>
                  <a:srgbClr val="000000"/>
                </a:solidFill>
                <a:latin typeface="Canva Sans"/>
                <a:ea typeface="Canva Sans"/>
                <a:cs typeface="Canva Sans"/>
                <a:sym typeface="Canva Sans"/>
              </a:rPr>
              <a:t>       through user submissions.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2772271" y="2511536"/>
            <a:ext cx="4232008" cy="6861604"/>
          </a:xfrm>
          <a:custGeom>
            <a:avLst/>
            <a:gdLst/>
            <a:ahLst/>
            <a:cxnLst/>
            <a:rect r="r" b="b" t="t" l="l"/>
            <a:pathLst>
              <a:path h="6861604" w="4232008">
                <a:moveTo>
                  <a:pt x="0" y="0"/>
                </a:moveTo>
                <a:lnTo>
                  <a:pt x="4232008" y="0"/>
                </a:lnTo>
                <a:lnTo>
                  <a:pt x="4232008" y="6861605"/>
                </a:lnTo>
                <a:lnTo>
                  <a:pt x="0" y="6861605"/>
                </a:lnTo>
                <a:lnTo>
                  <a:pt x="0" y="0"/>
                </a:lnTo>
                <a:close/>
              </a:path>
            </a:pathLst>
          </a:custGeom>
          <a:blipFill>
            <a:blip r:embed="rId3"/>
            <a:stretch>
              <a:fillRect l="0" t="0" r="0" b="0"/>
            </a:stretch>
          </a:blipFill>
        </p:spPr>
      </p:sp>
      <p:sp>
        <p:nvSpPr>
          <p:cNvPr name="Freeform 10" id="10"/>
          <p:cNvSpPr/>
          <p:nvPr/>
        </p:nvSpPr>
        <p:spPr>
          <a:xfrm flipH="false" flipV="false" rot="0">
            <a:off x="233221" y="5133975"/>
            <a:ext cx="11770082" cy="882539"/>
          </a:xfrm>
          <a:custGeom>
            <a:avLst/>
            <a:gdLst/>
            <a:ahLst/>
            <a:cxnLst/>
            <a:rect r="r" b="b" t="t" l="l"/>
            <a:pathLst>
              <a:path h="882539" w="11770082">
                <a:moveTo>
                  <a:pt x="0" y="0"/>
                </a:moveTo>
                <a:lnTo>
                  <a:pt x="11770082" y="0"/>
                </a:lnTo>
                <a:lnTo>
                  <a:pt x="11770082" y="882539"/>
                </a:lnTo>
                <a:lnTo>
                  <a:pt x="0" y="882539"/>
                </a:lnTo>
                <a:lnTo>
                  <a:pt x="0" y="0"/>
                </a:lnTo>
                <a:close/>
              </a:path>
            </a:pathLst>
          </a:custGeom>
          <a:blipFill>
            <a:blip r:embed="rId4"/>
            <a:stretch>
              <a:fillRect l="0" t="0" r="-37897" b="-100000"/>
            </a:stretch>
          </a:blipFill>
        </p:spPr>
      </p:sp>
      <p:sp>
        <p:nvSpPr>
          <p:cNvPr name="Freeform 11" id="11"/>
          <p:cNvSpPr/>
          <p:nvPr/>
        </p:nvSpPr>
        <p:spPr>
          <a:xfrm flipH="true" flipV="true" rot="0">
            <a:off x="310594" y="2794111"/>
            <a:ext cx="11770082" cy="882539"/>
          </a:xfrm>
          <a:custGeom>
            <a:avLst/>
            <a:gdLst/>
            <a:ahLst/>
            <a:cxnLst/>
            <a:rect r="r" b="b" t="t" l="l"/>
            <a:pathLst>
              <a:path h="882539" w="11770082">
                <a:moveTo>
                  <a:pt x="11770083" y="882539"/>
                </a:moveTo>
                <a:lnTo>
                  <a:pt x="0" y="882539"/>
                </a:lnTo>
                <a:lnTo>
                  <a:pt x="0" y="0"/>
                </a:lnTo>
                <a:lnTo>
                  <a:pt x="11770083" y="0"/>
                </a:lnTo>
                <a:lnTo>
                  <a:pt x="11770083" y="882539"/>
                </a:lnTo>
                <a:close/>
              </a:path>
            </a:pathLst>
          </a:custGeom>
          <a:blipFill>
            <a:blip r:embed="rId4"/>
            <a:stretch>
              <a:fillRect l="0" t="0" r="-37897" b="-100000"/>
            </a:stretch>
          </a:blipFill>
        </p:spPr>
      </p:sp>
      <p:grpSp>
        <p:nvGrpSpPr>
          <p:cNvPr name="Group 12" id="12"/>
          <p:cNvGrpSpPr/>
          <p:nvPr/>
        </p:nvGrpSpPr>
        <p:grpSpPr>
          <a:xfrm rot="0">
            <a:off x="242746" y="2856238"/>
            <a:ext cx="11779607" cy="3086100"/>
            <a:chOff x="0" y="0"/>
            <a:chExt cx="3102448" cy="812800"/>
          </a:xfrm>
        </p:grpSpPr>
        <p:sp>
          <p:nvSpPr>
            <p:cNvPr name="Freeform 13" id="13"/>
            <p:cNvSpPr/>
            <p:nvPr/>
          </p:nvSpPr>
          <p:spPr>
            <a:xfrm flipH="false" flipV="false" rot="0">
              <a:off x="0" y="0"/>
              <a:ext cx="3102448" cy="812800"/>
            </a:xfrm>
            <a:custGeom>
              <a:avLst/>
              <a:gdLst/>
              <a:ahLst/>
              <a:cxnLst/>
              <a:rect r="r" b="b" t="t" l="l"/>
              <a:pathLst>
                <a:path h="812800" w="3102448">
                  <a:moveTo>
                    <a:pt x="33519" y="0"/>
                  </a:moveTo>
                  <a:lnTo>
                    <a:pt x="3068929" y="0"/>
                  </a:lnTo>
                  <a:cubicBezTo>
                    <a:pt x="3087441" y="0"/>
                    <a:pt x="3102448" y="15007"/>
                    <a:pt x="3102448" y="33519"/>
                  </a:cubicBezTo>
                  <a:lnTo>
                    <a:pt x="3102448" y="779281"/>
                  </a:lnTo>
                  <a:cubicBezTo>
                    <a:pt x="3102448" y="788171"/>
                    <a:pt x="3098917" y="796697"/>
                    <a:pt x="3092631" y="802983"/>
                  </a:cubicBezTo>
                  <a:cubicBezTo>
                    <a:pt x="3086345" y="809269"/>
                    <a:pt x="3077819" y="812800"/>
                    <a:pt x="3068929" y="812800"/>
                  </a:cubicBezTo>
                  <a:lnTo>
                    <a:pt x="33519" y="812800"/>
                  </a:lnTo>
                  <a:cubicBezTo>
                    <a:pt x="15007" y="812800"/>
                    <a:pt x="0" y="797793"/>
                    <a:pt x="0" y="779281"/>
                  </a:cubicBezTo>
                  <a:lnTo>
                    <a:pt x="0" y="33519"/>
                  </a:lnTo>
                  <a:cubicBezTo>
                    <a:pt x="0" y="15007"/>
                    <a:pt x="15007" y="0"/>
                    <a:pt x="33519" y="0"/>
                  </a:cubicBezTo>
                  <a:close/>
                </a:path>
              </a:pathLst>
            </a:custGeom>
            <a:solidFill>
              <a:srgbClr val="FFFFFF"/>
            </a:solidFill>
            <a:ln cap="rnd">
              <a:noFill/>
              <a:prstDash val="solid"/>
              <a:round/>
            </a:ln>
          </p:spPr>
        </p:sp>
        <p:sp>
          <p:nvSpPr>
            <p:cNvPr name="TextBox 14" id="14"/>
            <p:cNvSpPr txBox="true"/>
            <p:nvPr/>
          </p:nvSpPr>
          <p:spPr>
            <a:xfrm>
              <a:off x="0" y="-47625"/>
              <a:ext cx="3102448" cy="860425"/>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6207323" y="1307330"/>
            <a:ext cx="5873353"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 Motiv</a:t>
            </a:r>
            <a:r>
              <a:rPr lang="en-US" b="true" sz="5000">
                <a:solidFill>
                  <a:srgbClr val="000000"/>
                </a:solidFill>
                <a:latin typeface="Times New Roman Bold"/>
                <a:ea typeface="Times New Roman Bold"/>
                <a:cs typeface="Times New Roman Bold"/>
                <a:sym typeface="Times New Roman Bold"/>
              </a:rPr>
              <a:t>ation / Purpose</a:t>
            </a:r>
          </a:p>
        </p:txBody>
      </p:sp>
      <p:sp>
        <p:nvSpPr>
          <p:cNvPr name="TextBox 16" id="16"/>
          <p:cNvSpPr txBox="true"/>
          <p:nvPr/>
        </p:nvSpPr>
        <p:spPr>
          <a:xfrm rot="0">
            <a:off x="659350" y="2940530"/>
            <a:ext cx="11363003" cy="2846484"/>
          </a:xfrm>
          <a:prstGeom prst="rect">
            <a:avLst/>
          </a:prstGeom>
        </p:spPr>
        <p:txBody>
          <a:bodyPr anchor="t" rtlCol="false" tIns="0" lIns="0" bIns="0" rIns="0">
            <a:spAutoFit/>
          </a:bodyPr>
          <a:lstStyle/>
          <a:p>
            <a:pPr algn="l">
              <a:lnSpc>
                <a:spcPts val="3757"/>
              </a:lnSpc>
            </a:pPr>
            <a:r>
              <a:rPr lang="en-US" sz="2683" b="true">
                <a:solidFill>
                  <a:srgbClr val="000000"/>
                </a:solidFill>
                <a:latin typeface="Canva Sans Bold"/>
                <a:ea typeface="Canva Sans Bold"/>
                <a:cs typeface="Canva Sans Bold"/>
                <a:sym typeface="Canva Sans Bold"/>
              </a:rPr>
              <a:t>Motivation </a:t>
            </a:r>
            <a:r>
              <a:rPr lang="en-US" b="true" sz="2683">
                <a:solidFill>
                  <a:srgbClr val="000000"/>
                </a:solidFill>
                <a:latin typeface="Canva Sans Bold"/>
                <a:ea typeface="Canva Sans Bold"/>
                <a:cs typeface="Canva Sans Bold"/>
                <a:sym typeface="Canva Sans Bold"/>
              </a:rPr>
              <a:t>: </a:t>
            </a:r>
          </a:p>
          <a:p>
            <a:pPr algn="l">
              <a:lnSpc>
                <a:spcPts val="3757"/>
              </a:lnSpc>
            </a:pPr>
            <a:r>
              <a:rPr lang="en-US" sz="2683">
                <a:solidFill>
                  <a:srgbClr val="000000"/>
                </a:solidFill>
                <a:latin typeface="Canva Sans"/>
                <a:ea typeface="Canva Sans"/>
                <a:cs typeface="Canva Sans"/>
                <a:sym typeface="Canva Sans"/>
              </a:rPr>
              <a:t>The growth of electric vehicles in India is held back by range anxiety, unreliable charging information, and the lack of dependable emergency assistance. Existing applications offer static or outdated station lists, making long-distance travel difficult and unsafe for users.</a:t>
            </a:r>
          </a:p>
        </p:txBody>
      </p:sp>
      <p:sp>
        <p:nvSpPr>
          <p:cNvPr name="Freeform 17" id="17"/>
          <p:cNvSpPr/>
          <p:nvPr/>
        </p:nvSpPr>
        <p:spPr>
          <a:xfrm flipH="false" flipV="false" rot="0">
            <a:off x="291544" y="8764479"/>
            <a:ext cx="11770082" cy="882539"/>
          </a:xfrm>
          <a:custGeom>
            <a:avLst/>
            <a:gdLst/>
            <a:ahLst/>
            <a:cxnLst/>
            <a:rect r="r" b="b" t="t" l="l"/>
            <a:pathLst>
              <a:path h="882539" w="11770082">
                <a:moveTo>
                  <a:pt x="0" y="0"/>
                </a:moveTo>
                <a:lnTo>
                  <a:pt x="11770083" y="0"/>
                </a:lnTo>
                <a:lnTo>
                  <a:pt x="11770083" y="882539"/>
                </a:lnTo>
                <a:lnTo>
                  <a:pt x="0" y="882539"/>
                </a:lnTo>
                <a:lnTo>
                  <a:pt x="0" y="0"/>
                </a:lnTo>
                <a:close/>
              </a:path>
            </a:pathLst>
          </a:custGeom>
          <a:blipFill>
            <a:blip r:embed="rId4"/>
            <a:stretch>
              <a:fillRect l="0" t="0" r="-37897" b="-100000"/>
            </a:stretch>
          </a:blipFill>
        </p:spPr>
      </p:sp>
      <p:sp>
        <p:nvSpPr>
          <p:cNvPr name="Freeform 18" id="18"/>
          <p:cNvSpPr/>
          <p:nvPr/>
        </p:nvSpPr>
        <p:spPr>
          <a:xfrm flipH="true" flipV="true" rot="0">
            <a:off x="389136" y="6418573"/>
            <a:ext cx="11770082" cy="882539"/>
          </a:xfrm>
          <a:custGeom>
            <a:avLst/>
            <a:gdLst/>
            <a:ahLst/>
            <a:cxnLst/>
            <a:rect r="r" b="b" t="t" l="l"/>
            <a:pathLst>
              <a:path h="882539" w="11770082">
                <a:moveTo>
                  <a:pt x="11770082" y="882539"/>
                </a:moveTo>
                <a:lnTo>
                  <a:pt x="0" y="882539"/>
                </a:lnTo>
                <a:lnTo>
                  <a:pt x="0" y="0"/>
                </a:lnTo>
                <a:lnTo>
                  <a:pt x="11770082" y="0"/>
                </a:lnTo>
                <a:lnTo>
                  <a:pt x="11770082" y="882539"/>
                </a:lnTo>
                <a:close/>
              </a:path>
            </a:pathLst>
          </a:custGeom>
          <a:blipFill>
            <a:blip r:embed="rId4"/>
            <a:stretch>
              <a:fillRect l="0" t="0" r="-37897" b="-100000"/>
            </a:stretch>
          </a:blipFill>
        </p:spPr>
      </p:sp>
      <p:grpSp>
        <p:nvGrpSpPr>
          <p:cNvPr name="Group 19" id="19"/>
          <p:cNvGrpSpPr/>
          <p:nvPr/>
        </p:nvGrpSpPr>
        <p:grpSpPr>
          <a:xfrm rot="0">
            <a:off x="301069" y="6486742"/>
            <a:ext cx="11779607" cy="3086100"/>
            <a:chOff x="0" y="0"/>
            <a:chExt cx="3102448" cy="812800"/>
          </a:xfrm>
        </p:grpSpPr>
        <p:sp>
          <p:nvSpPr>
            <p:cNvPr name="Freeform 20" id="20"/>
            <p:cNvSpPr/>
            <p:nvPr/>
          </p:nvSpPr>
          <p:spPr>
            <a:xfrm flipH="false" flipV="false" rot="0">
              <a:off x="0" y="0"/>
              <a:ext cx="3102448" cy="812800"/>
            </a:xfrm>
            <a:custGeom>
              <a:avLst/>
              <a:gdLst/>
              <a:ahLst/>
              <a:cxnLst/>
              <a:rect r="r" b="b" t="t" l="l"/>
              <a:pathLst>
                <a:path h="812800" w="3102448">
                  <a:moveTo>
                    <a:pt x="33519" y="0"/>
                  </a:moveTo>
                  <a:lnTo>
                    <a:pt x="3068929" y="0"/>
                  </a:lnTo>
                  <a:cubicBezTo>
                    <a:pt x="3087441" y="0"/>
                    <a:pt x="3102448" y="15007"/>
                    <a:pt x="3102448" y="33519"/>
                  </a:cubicBezTo>
                  <a:lnTo>
                    <a:pt x="3102448" y="779281"/>
                  </a:lnTo>
                  <a:cubicBezTo>
                    <a:pt x="3102448" y="788171"/>
                    <a:pt x="3098917" y="796697"/>
                    <a:pt x="3092631" y="802983"/>
                  </a:cubicBezTo>
                  <a:cubicBezTo>
                    <a:pt x="3086345" y="809269"/>
                    <a:pt x="3077819" y="812800"/>
                    <a:pt x="3068929" y="812800"/>
                  </a:cubicBezTo>
                  <a:lnTo>
                    <a:pt x="33519" y="812800"/>
                  </a:lnTo>
                  <a:cubicBezTo>
                    <a:pt x="15007" y="812800"/>
                    <a:pt x="0" y="797793"/>
                    <a:pt x="0" y="779281"/>
                  </a:cubicBezTo>
                  <a:lnTo>
                    <a:pt x="0" y="33519"/>
                  </a:lnTo>
                  <a:cubicBezTo>
                    <a:pt x="0" y="15007"/>
                    <a:pt x="15007" y="0"/>
                    <a:pt x="33519" y="0"/>
                  </a:cubicBezTo>
                  <a:close/>
                </a:path>
              </a:pathLst>
            </a:custGeom>
            <a:solidFill>
              <a:srgbClr val="FFFFFF"/>
            </a:solidFill>
            <a:ln cap="rnd">
              <a:noFill/>
              <a:prstDash val="solid"/>
              <a:round/>
            </a:ln>
          </p:spPr>
        </p:sp>
        <p:sp>
          <p:nvSpPr>
            <p:cNvPr name="TextBox 21" id="21"/>
            <p:cNvSpPr txBox="true"/>
            <p:nvPr/>
          </p:nvSpPr>
          <p:spPr>
            <a:xfrm>
              <a:off x="0" y="-47625"/>
              <a:ext cx="3102448" cy="86042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640300" y="6577976"/>
            <a:ext cx="11363003" cy="2846484"/>
          </a:xfrm>
          <a:prstGeom prst="rect">
            <a:avLst/>
          </a:prstGeom>
        </p:spPr>
        <p:txBody>
          <a:bodyPr anchor="t" rtlCol="false" tIns="0" lIns="0" bIns="0" rIns="0">
            <a:spAutoFit/>
          </a:bodyPr>
          <a:lstStyle/>
          <a:p>
            <a:pPr algn="l">
              <a:lnSpc>
                <a:spcPts val="3757"/>
              </a:lnSpc>
            </a:pPr>
            <a:r>
              <a:rPr lang="en-US" sz="2683" b="true">
                <a:solidFill>
                  <a:srgbClr val="000000"/>
                </a:solidFill>
                <a:latin typeface="Canva Sans Bold"/>
                <a:ea typeface="Canva Sans Bold"/>
                <a:cs typeface="Canva Sans Bold"/>
                <a:sym typeface="Canva Sans Bold"/>
              </a:rPr>
              <a:t>Purpose </a:t>
            </a:r>
            <a:r>
              <a:rPr lang="en-US" b="true" sz="2683">
                <a:solidFill>
                  <a:srgbClr val="000000"/>
                </a:solidFill>
                <a:latin typeface="Canva Sans Bold"/>
                <a:ea typeface="Canva Sans Bold"/>
                <a:cs typeface="Canva Sans Bold"/>
                <a:sym typeface="Canva Sans Bold"/>
              </a:rPr>
              <a:t>: </a:t>
            </a:r>
          </a:p>
          <a:p>
            <a:pPr algn="l">
              <a:lnSpc>
                <a:spcPts val="3757"/>
              </a:lnSpc>
            </a:pPr>
            <a:r>
              <a:rPr lang="en-US" sz="2683">
                <a:solidFill>
                  <a:srgbClr val="000000"/>
                </a:solidFill>
                <a:latin typeface="Canva Sans"/>
                <a:ea typeface="Canva Sans"/>
                <a:cs typeface="Canva Sans"/>
                <a:sym typeface="Canva Sans"/>
              </a:rPr>
              <a:t>This project aims to provide a trustworthy, real-time navigation solution that helps drivers easily locate verified charging stations, plan routes intelligently based on battery levels, and access instant emergency support. The overall purpose is to improve safety, confidence, and convenience for EV users across India.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028700" y="7115309"/>
            <a:ext cx="4029231" cy="2301698"/>
          </a:xfrm>
          <a:custGeom>
            <a:avLst/>
            <a:gdLst/>
            <a:ahLst/>
            <a:cxnLst/>
            <a:rect r="r" b="b" t="t" l="l"/>
            <a:pathLst>
              <a:path h="2301698" w="4029231">
                <a:moveTo>
                  <a:pt x="0" y="0"/>
                </a:moveTo>
                <a:lnTo>
                  <a:pt x="4029231" y="0"/>
                </a:lnTo>
                <a:lnTo>
                  <a:pt x="4029231" y="2301698"/>
                </a:lnTo>
                <a:lnTo>
                  <a:pt x="0" y="2301698"/>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5400000">
            <a:off x="2423970" y="3705827"/>
            <a:ext cx="1111796" cy="3246120"/>
          </a:xfrm>
          <a:custGeom>
            <a:avLst/>
            <a:gdLst/>
            <a:ahLst/>
            <a:cxnLst/>
            <a:rect r="r" b="b" t="t" l="l"/>
            <a:pathLst>
              <a:path h="3246120" w="1111796">
                <a:moveTo>
                  <a:pt x="0" y="0"/>
                </a:moveTo>
                <a:lnTo>
                  <a:pt x="1111796" y="0"/>
                </a:lnTo>
                <a:lnTo>
                  <a:pt x="1111796" y="3246120"/>
                </a:lnTo>
                <a:lnTo>
                  <a:pt x="0" y="32461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225319" y="5611603"/>
            <a:ext cx="3645142" cy="3355423"/>
            <a:chOff x="0" y="0"/>
            <a:chExt cx="966425" cy="889612"/>
          </a:xfrm>
        </p:grpSpPr>
        <p:sp>
          <p:nvSpPr>
            <p:cNvPr name="Freeform 12" id="12"/>
            <p:cNvSpPr/>
            <p:nvPr/>
          </p:nvSpPr>
          <p:spPr>
            <a:xfrm flipH="false" flipV="false" rot="0">
              <a:off x="0" y="0"/>
              <a:ext cx="966425" cy="889612"/>
            </a:xfrm>
            <a:custGeom>
              <a:avLst/>
              <a:gdLst/>
              <a:ahLst/>
              <a:cxnLst/>
              <a:rect r="r" b="b" t="t" l="l"/>
              <a:pathLst>
                <a:path h="889612" w="966425">
                  <a:moveTo>
                    <a:pt x="108319" y="0"/>
                  </a:moveTo>
                  <a:lnTo>
                    <a:pt x="858106" y="0"/>
                  </a:lnTo>
                  <a:cubicBezTo>
                    <a:pt x="886834" y="0"/>
                    <a:pt x="914385" y="11412"/>
                    <a:pt x="934699" y="31726"/>
                  </a:cubicBezTo>
                  <a:cubicBezTo>
                    <a:pt x="955013" y="52040"/>
                    <a:pt x="966425" y="79591"/>
                    <a:pt x="966425" y="108319"/>
                  </a:cubicBezTo>
                  <a:lnTo>
                    <a:pt x="966425" y="781293"/>
                  </a:lnTo>
                  <a:cubicBezTo>
                    <a:pt x="966425" y="810021"/>
                    <a:pt x="955013" y="837573"/>
                    <a:pt x="934699" y="857886"/>
                  </a:cubicBezTo>
                  <a:cubicBezTo>
                    <a:pt x="914385" y="878200"/>
                    <a:pt x="886834" y="889612"/>
                    <a:pt x="858106" y="889612"/>
                  </a:cubicBezTo>
                  <a:lnTo>
                    <a:pt x="108319" y="889612"/>
                  </a:lnTo>
                  <a:cubicBezTo>
                    <a:pt x="79591" y="889612"/>
                    <a:pt x="52040" y="878200"/>
                    <a:pt x="31726" y="857886"/>
                  </a:cubicBezTo>
                  <a:cubicBezTo>
                    <a:pt x="11412" y="837573"/>
                    <a:pt x="0" y="810021"/>
                    <a:pt x="0" y="781293"/>
                  </a:cubicBezTo>
                  <a:lnTo>
                    <a:pt x="0" y="108319"/>
                  </a:lnTo>
                  <a:cubicBezTo>
                    <a:pt x="0" y="79591"/>
                    <a:pt x="11412" y="52040"/>
                    <a:pt x="31726" y="31726"/>
                  </a:cubicBezTo>
                  <a:cubicBezTo>
                    <a:pt x="52040" y="11412"/>
                    <a:pt x="79591" y="0"/>
                    <a:pt x="108319" y="0"/>
                  </a:cubicBezTo>
                  <a:close/>
                </a:path>
              </a:pathLst>
            </a:custGeom>
            <a:solidFill>
              <a:srgbClr val="386C9C"/>
            </a:solidFill>
          </p:spPr>
        </p:sp>
        <p:sp>
          <p:nvSpPr>
            <p:cNvPr name="TextBox 13" id="13"/>
            <p:cNvSpPr txBox="true"/>
            <p:nvPr/>
          </p:nvSpPr>
          <p:spPr>
            <a:xfrm>
              <a:off x="0" y="-57150"/>
              <a:ext cx="966425" cy="946762"/>
            </a:xfrm>
            <a:prstGeom prst="rect">
              <a:avLst/>
            </a:prstGeom>
          </p:spPr>
          <p:txBody>
            <a:bodyPr anchor="ctr" rtlCol="false" tIns="50800" lIns="50800" bIns="50800" rIns="50800"/>
            <a:lstStyle/>
            <a:p>
              <a:pPr algn="ctr">
                <a:lnSpc>
                  <a:spcPts val="2698"/>
                </a:lnSpc>
              </a:pPr>
            </a:p>
          </p:txBody>
        </p:sp>
      </p:grpSp>
      <p:sp>
        <p:nvSpPr>
          <p:cNvPr name="Freeform 14" id="14"/>
          <p:cNvSpPr/>
          <p:nvPr/>
        </p:nvSpPr>
        <p:spPr>
          <a:xfrm flipH="false" flipV="false" rot="0">
            <a:off x="5057931" y="7124854"/>
            <a:ext cx="4012523" cy="2292154"/>
          </a:xfrm>
          <a:custGeom>
            <a:avLst/>
            <a:gdLst/>
            <a:ahLst/>
            <a:cxnLst/>
            <a:rect r="r" b="b" t="t" l="l"/>
            <a:pathLst>
              <a:path h="2292154" w="4012523">
                <a:moveTo>
                  <a:pt x="0" y="0"/>
                </a:moveTo>
                <a:lnTo>
                  <a:pt x="4012523" y="0"/>
                </a:lnTo>
                <a:lnTo>
                  <a:pt x="4012523" y="2292153"/>
                </a:lnTo>
                <a:lnTo>
                  <a:pt x="0" y="2292153"/>
                </a:lnTo>
                <a:lnTo>
                  <a:pt x="0" y="0"/>
                </a:lnTo>
                <a:close/>
              </a:path>
            </a:pathLst>
          </a:custGeom>
          <a:blipFill>
            <a:blip r:embed="rId3">
              <a:alphaModFix amt="50000"/>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5" id="15"/>
          <p:cNvSpPr/>
          <p:nvPr/>
        </p:nvSpPr>
        <p:spPr>
          <a:xfrm flipH="false" flipV="false" rot="5400000">
            <a:off x="6504216" y="3705827"/>
            <a:ext cx="1111796" cy="3246120"/>
          </a:xfrm>
          <a:custGeom>
            <a:avLst/>
            <a:gdLst/>
            <a:ahLst/>
            <a:cxnLst/>
            <a:rect r="r" b="b" t="t" l="l"/>
            <a:pathLst>
              <a:path h="3246120" w="1111796">
                <a:moveTo>
                  <a:pt x="0" y="0"/>
                </a:moveTo>
                <a:lnTo>
                  <a:pt x="1111796" y="0"/>
                </a:lnTo>
                <a:lnTo>
                  <a:pt x="1111796" y="3246120"/>
                </a:lnTo>
                <a:lnTo>
                  <a:pt x="0" y="32461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5245101" y="5627383"/>
            <a:ext cx="3630027" cy="3341509"/>
            <a:chOff x="0" y="0"/>
            <a:chExt cx="966425" cy="889612"/>
          </a:xfrm>
        </p:grpSpPr>
        <p:sp>
          <p:nvSpPr>
            <p:cNvPr name="Freeform 17" id="17"/>
            <p:cNvSpPr/>
            <p:nvPr/>
          </p:nvSpPr>
          <p:spPr>
            <a:xfrm flipH="false" flipV="false" rot="0">
              <a:off x="0" y="0"/>
              <a:ext cx="966425" cy="889612"/>
            </a:xfrm>
            <a:custGeom>
              <a:avLst/>
              <a:gdLst/>
              <a:ahLst/>
              <a:cxnLst/>
              <a:rect r="r" b="b" t="t" l="l"/>
              <a:pathLst>
                <a:path h="889612" w="966425">
                  <a:moveTo>
                    <a:pt x="108770" y="0"/>
                  </a:moveTo>
                  <a:lnTo>
                    <a:pt x="857655" y="0"/>
                  </a:lnTo>
                  <a:cubicBezTo>
                    <a:pt x="886502" y="0"/>
                    <a:pt x="914168" y="11460"/>
                    <a:pt x="934567" y="31858"/>
                  </a:cubicBezTo>
                  <a:cubicBezTo>
                    <a:pt x="954965" y="52256"/>
                    <a:pt x="966425" y="79922"/>
                    <a:pt x="966425" y="108770"/>
                  </a:cubicBezTo>
                  <a:lnTo>
                    <a:pt x="966425" y="780842"/>
                  </a:lnTo>
                  <a:cubicBezTo>
                    <a:pt x="966425" y="809690"/>
                    <a:pt x="954965" y="837356"/>
                    <a:pt x="934567" y="857754"/>
                  </a:cubicBezTo>
                  <a:cubicBezTo>
                    <a:pt x="914168" y="878153"/>
                    <a:pt x="886502" y="889612"/>
                    <a:pt x="857655" y="889612"/>
                  </a:cubicBezTo>
                  <a:lnTo>
                    <a:pt x="108770" y="889612"/>
                  </a:lnTo>
                  <a:cubicBezTo>
                    <a:pt x="79922" y="889612"/>
                    <a:pt x="52256" y="878153"/>
                    <a:pt x="31858" y="857754"/>
                  </a:cubicBezTo>
                  <a:cubicBezTo>
                    <a:pt x="11460" y="837356"/>
                    <a:pt x="0" y="809690"/>
                    <a:pt x="0" y="780842"/>
                  </a:cubicBezTo>
                  <a:lnTo>
                    <a:pt x="0" y="108770"/>
                  </a:lnTo>
                  <a:cubicBezTo>
                    <a:pt x="0" y="79922"/>
                    <a:pt x="11460" y="52256"/>
                    <a:pt x="31858" y="31858"/>
                  </a:cubicBezTo>
                  <a:cubicBezTo>
                    <a:pt x="52256" y="11460"/>
                    <a:pt x="79922" y="0"/>
                    <a:pt x="108770" y="0"/>
                  </a:cubicBezTo>
                  <a:close/>
                </a:path>
              </a:pathLst>
            </a:custGeom>
            <a:solidFill>
              <a:srgbClr val="308FBE"/>
            </a:solidFill>
          </p:spPr>
        </p:sp>
        <p:sp>
          <p:nvSpPr>
            <p:cNvPr name="TextBox 18" id="18"/>
            <p:cNvSpPr txBox="true"/>
            <p:nvPr/>
          </p:nvSpPr>
          <p:spPr>
            <a:xfrm>
              <a:off x="0" y="-57150"/>
              <a:ext cx="966425" cy="946762"/>
            </a:xfrm>
            <a:prstGeom prst="rect">
              <a:avLst/>
            </a:prstGeom>
          </p:spPr>
          <p:txBody>
            <a:bodyPr anchor="ctr" rtlCol="false" tIns="50800" lIns="50800" bIns="50800" rIns="50800"/>
            <a:lstStyle/>
            <a:p>
              <a:pPr algn="ctr">
                <a:lnSpc>
                  <a:spcPts val="2698"/>
                </a:lnSpc>
              </a:pPr>
            </a:p>
          </p:txBody>
        </p:sp>
      </p:grpSp>
      <p:sp>
        <p:nvSpPr>
          <p:cNvPr name="Freeform 19" id="19"/>
          <p:cNvSpPr/>
          <p:nvPr/>
        </p:nvSpPr>
        <p:spPr>
          <a:xfrm flipH="false" flipV="false" rot="0">
            <a:off x="9064525" y="7233151"/>
            <a:ext cx="3923042" cy="2241038"/>
          </a:xfrm>
          <a:custGeom>
            <a:avLst/>
            <a:gdLst/>
            <a:ahLst/>
            <a:cxnLst/>
            <a:rect r="r" b="b" t="t" l="l"/>
            <a:pathLst>
              <a:path h="2241038" w="3923042">
                <a:moveTo>
                  <a:pt x="0" y="0"/>
                </a:moveTo>
                <a:lnTo>
                  <a:pt x="3923042" y="0"/>
                </a:lnTo>
                <a:lnTo>
                  <a:pt x="3923042" y="2241038"/>
                </a:lnTo>
                <a:lnTo>
                  <a:pt x="0" y="2241038"/>
                </a:lnTo>
                <a:lnTo>
                  <a:pt x="0" y="0"/>
                </a:lnTo>
                <a:close/>
              </a:path>
            </a:pathLst>
          </a:custGeom>
          <a:blipFill>
            <a:blip r:embed="rId3">
              <a:alphaModFix amt="50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0" id="20"/>
          <p:cNvSpPr/>
          <p:nvPr/>
        </p:nvSpPr>
        <p:spPr>
          <a:xfrm flipH="false" flipV="false" rot="5400000">
            <a:off x="10509543" y="3715352"/>
            <a:ext cx="1111796" cy="3246120"/>
          </a:xfrm>
          <a:custGeom>
            <a:avLst/>
            <a:gdLst/>
            <a:ahLst/>
            <a:cxnLst/>
            <a:rect r="r" b="b" t="t" l="l"/>
            <a:pathLst>
              <a:path h="3246120" w="1111796">
                <a:moveTo>
                  <a:pt x="0" y="0"/>
                </a:moveTo>
                <a:lnTo>
                  <a:pt x="1111796" y="0"/>
                </a:lnTo>
                <a:lnTo>
                  <a:pt x="1111796" y="3246120"/>
                </a:lnTo>
                <a:lnTo>
                  <a:pt x="0" y="32461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9290904" y="5695493"/>
            <a:ext cx="3549076" cy="3266992"/>
            <a:chOff x="0" y="0"/>
            <a:chExt cx="966425" cy="889612"/>
          </a:xfrm>
        </p:grpSpPr>
        <p:sp>
          <p:nvSpPr>
            <p:cNvPr name="Freeform 22" id="22"/>
            <p:cNvSpPr/>
            <p:nvPr/>
          </p:nvSpPr>
          <p:spPr>
            <a:xfrm flipH="false" flipV="false" rot="0">
              <a:off x="0" y="0"/>
              <a:ext cx="966425" cy="889612"/>
            </a:xfrm>
            <a:custGeom>
              <a:avLst/>
              <a:gdLst/>
              <a:ahLst/>
              <a:cxnLst/>
              <a:rect r="r" b="b" t="t" l="l"/>
              <a:pathLst>
                <a:path h="889612" w="966425">
                  <a:moveTo>
                    <a:pt x="111251" y="0"/>
                  </a:moveTo>
                  <a:lnTo>
                    <a:pt x="855174" y="0"/>
                  </a:lnTo>
                  <a:cubicBezTo>
                    <a:pt x="916616" y="0"/>
                    <a:pt x="966425" y="49809"/>
                    <a:pt x="966425" y="111251"/>
                  </a:cubicBezTo>
                  <a:lnTo>
                    <a:pt x="966425" y="778361"/>
                  </a:lnTo>
                  <a:cubicBezTo>
                    <a:pt x="966425" y="839804"/>
                    <a:pt x="916616" y="889612"/>
                    <a:pt x="855174" y="889612"/>
                  </a:cubicBezTo>
                  <a:lnTo>
                    <a:pt x="111251" y="889612"/>
                  </a:lnTo>
                  <a:cubicBezTo>
                    <a:pt x="49809" y="889612"/>
                    <a:pt x="0" y="839804"/>
                    <a:pt x="0" y="778361"/>
                  </a:cubicBezTo>
                  <a:lnTo>
                    <a:pt x="0" y="111251"/>
                  </a:lnTo>
                  <a:cubicBezTo>
                    <a:pt x="0" y="49809"/>
                    <a:pt x="49809" y="0"/>
                    <a:pt x="111251" y="0"/>
                  </a:cubicBezTo>
                  <a:close/>
                </a:path>
              </a:pathLst>
            </a:custGeom>
            <a:solidFill>
              <a:srgbClr val="FF7A46"/>
            </a:solidFill>
          </p:spPr>
        </p:sp>
        <p:sp>
          <p:nvSpPr>
            <p:cNvPr name="TextBox 23" id="23"/>
            <p:cNvSpPr txBox="true"/>
            <p:nvPr/>
          </p:nvSpPr>
          <p:spPr>
            <a:xfrm>
              <a:off x="0" y="-57150"/>
              <a:ext cx="966425" cy="946762"/>
            </a:xfrm>
            <a:prstGeom prst="rect">
              <a:avLst/>
            </a:prstGeom>
          </p:spPr>
          <p:txBody>
            <a:bodyPr anchor="ctr" rtlCol="false" tIns="50800" lIns="50800" bIns="50800" rIns="50800"/>
            <a:lstStyle/>
            <a:p>
              <a:pPr algn="ctr">
                <a:lnSpc>
                  <a:spcPts val="2698"/>
                </a:lnSpc>
              </a:pPr>
            </a:p>
          </p:txBody>
        </p:sp>
      </p:grpSp>
      <p:sp>
        <p:nvSpPr>
          <p:cNvPr name="TextBox 24" id="24"/>
          <p:cNvSpPr txBox="true"/>
          <p:nvPr/>
        </p:nvSpPr>
        <p:spPr>
          <a:xfrm rot="0">
            <a:off x="9751380" y="3179723"/>
            <a:ext cx="2628123" cy="2529848"/>
          </a:xfrm>
          <a:prstGeom prst="rect">
            <a:avLst/>
          </a:prstGeom>
        </p:spPr>
        <p:txBody>
          <a:bodyPr anchor="t" rtlCol="false" tIns="0" lIns="0" bIns="0" rIns="0">
            <a:spAutoFit/>
          </a:bodyPr>
          <a:lstStyle/>
          <a:p>
            <a:pPr algn="ctr">
              <a:lnSpc>
                <a:spcPts val="20684"/>
              </a:lnSpc>
              <a:spcBef>
                <a:spcPct val="0"/>
              </a:spcBef>
            </a:pPr>
            <a:r>
              <a:rPr lang="en-US" b="true" sz="14774">
                <a:solidFill>
                  <a:srgbClr val="FF7A46"/>
                </a:solidFill>
                <a:latin typeface="Barlow Condensed Semi-Bold"/>
                <a:ea typeface="Barlow Condensed Semi-Bold"/>
                <a:cs typeface="Barlow Condensed Semi-Bold"/>
                <a:sym typeface="Barlow Condensed Semi-Bold"/>
              </a:rPr>
              <a:t>03</a:t>
            </a:r>
          </a:p>
        </p:txBody>
      </p:sp>
      <p:sp>
        <p:nvSpPr>
          <p:cNvPr name="Freeform 25" id="25"/>
          <p:cNvSpPr/>
          <p:nvPr/>
        </p:nvSpPr>
        <p:spPr>
          <a:xfrm flipH="false" flipV="false" rot="0">
            <a:off x="13105848" y="7261198"/>
            <a:ext cx="3994597" cy="2281914"/>
          </a:xfrm>
          <a:custGeom>
            <a:avLst/>
            <a:gdLst/>
            <a:ahLst/>
            <a:cxnLst/>
            <a:rect r="r" b="b" t="t" l="l"/>
            <a:pathLst>
              <a:path h="2281914" w="3994597">
                <a:moveTo>
                  <a:pt x="0" y="0"/>
                </a:moveTo>
                <a:lnTo>
                  <a:pt x="3994597" y="0"/>
                </a:lnTo>
                <a:lnTo>
                  <a:pt x="3994597" y="2281913"/>
                </a:lnTo>
                <a:lnTo>
                  <a:pt x="0" y="2281913"/>
                </a:lnTo>
                <a:lnTo>
                  <a:pt x="0" y="0"/>
                </a:lnTo>
                <a:close/>
              </a:path>
            </a:pathLst>
          </a:custGeom>
          <a:blipFill>
            <a:blip r:embed="rId3">
              <a:alphaModFix amt="50000"/>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6" id="26"/>
          <p:cNvSpPr/>
          <p:nvPr/>
        </p:nvSpPr>
        <p:spPr>
          <a:xfrm flipH="false" flipV="false" rot="5400000">
            <a:off x="14593863" y="3699044"/>
            <a:ext cx="1111796" cy="3246120"/>
          </a:xfrm>
          <a:custGeom>
            <a:avLst/>
            <a:gdLst/>
            <a:ahLst/>
            <a:cxnLst/>
            <a:rect r="r" b="b" t="t" l="l"/>
            <a:pathLst>
              <a:path h="3246120" w="1111796">
                <a:moveTo>
                  <a:pt x="0" y="0"/>
                </a:moveTo>
                <a:lnTo>
                  <a:pt x="1111796" y="0"/>
                </a:lnTo>
                <a:lnTo>
                  <a:pt x="1111796" y="3246120"/>
                </a:lnTo>
                <a:lnTo>
                  <a:pt x="0" y="32461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7" id="27"/>
          <p:cNvGrpSpPr/>
          <p:nvPr/>
        </p:nvGrpSpPr>
        <p:grpSpPr>
          <a:xfrm rot="0">
            <a:off x="13292182" y="5695493"/>
            <a:ext cx="3613810" cy="3326581"/>
            <a:chOff x="0" y="0"/>
            <a:chExt cx="966425" cy="889612"/>
          </a:xfrm>
        </p:grpSpPr>
        <p:sp>
          <p:nvSpPr>
            <p:cNvPr name="Freeform 28" id="28"/>
            <p:cNvSpPr/>
            <p:nvPr/>
          </p:nvSpPr>
          <p:spPr>
            <a:xfrm flipH="false" flipV="false" rot="0">
              <a:off x="0" y="0"/>
              <a:ext cx="966425" cy="889612"/>
            </a:xfrm>
            <a:custGeom>
              <a:avLst/>
              <a:gdLst/>
              <a:ahLst/>
              <a:cxnLst/>
              <a:rect r="r" b="b" t="t" l="l"/>
              <a:pathLst>
                <a:path h="889612" w="966425">
                  <a:moveTo>
                    <a:pt x="109258" y="0"/>
                  </a:moveTo>
                  <a:lnTo>
                    <a:pt x="857167" y="0"/>
                  </a:lnTo>
                  <a:cubicBezTo>
                    <a:pt x="886144" y="0"/>
                    <a:pt x="913934" y="11511"/>
                    <a:pt x="934424" y="32001"/>
                  </a:cubicBezTo>
                  <a:cubicBezTo>
                    <a:pt x="954914" y="52491"/>
                    <a:pt x="966425" y="80281"/>
                    <a:pt x="966425" y="109258"/>
                  </a:cubicBezTo>
                  <a:lnTo>
                    <a:pt x="966425" y="780354"/>
                  </a:lnTo>
                  <a:cubicBezTo>
                    <a:pt x="966425" y="809331"/>
                    <a:pt x="954914" y="837122"/>
                    <a:pt x="934424" y="857611"/>
                  </a:cubicBezTo>
                  <a:cubicBezTo>
                    <a:pt x="913934" y="878101"/>
                    <a:pt x="886144" y="889612"/>
                    <a:pt x="857167" y="889612"/>
                  </a:cubicBezTo>
                  <a:lnTo>
                    <a:pt x="109258" y="889612"/>
                  </a:lnTo>
                  <a:cubicBezTo>
                    <a:pt x="80281" y="889612"/>
                    <a:pt x="52491" y="878101"/>
                    <a:pt x="32001" y="857611"/>
                  </a:cubicBezTo>
                  <a:cubicBezTo>
                    <a:pt x="11511" y="837122"/>
                    <a:pt x="0" y="809331"/>
                    <a:pt x="0" y="780354"/>
                  </a:cubicBezTo>
                  <a:lnTo>
                    <a:pt x="0" y="109258"/>
                  </a:lnTo>
                  <a:cubicBezTo>
                    <a:pt x="0" y="80281"/>
                    <a:pt x="11511" y="52491"/>
                    <a:pt x="32001" y="32001"/>
                  </a:cubicBezTo>
                  <a:cubicBezTo>
                    <a:pt x="52491" y="11511"/>
                    <a:pt x="80281" y="0"/>
                    <a:pt x="109258" y="0"/>
                  </a:cubicBezTo>
                  <a:close/>
                </a:path>
              </a:pathLst>
            </a:custGeom>
            <a:solidFill>
              <a:srgbClr val="C34D24"/>
            </a:solidFill>
          </p:spPr>
        </p:sp>
        <p:sp>
          <p:nvSpPr>
            <p:cNvPr name="TextBox 29" id="29"/>
            <p:cNvSpPr txBox="true"/>
            <p:nvPr/>
          </p:nvSpPr>
          <p:spPr>
            <a:xfrm>
              <a:off x="0" y="-57150"/>
              <a:ext cx="966425" cy="946762"/>
            </a:xfrm>
            <a:prstGeom prst="rect">
              <a:avLst/>
            </a:prstGeom>
          </p:spPr>
          <p:txBody>
            <a:bodyPr anchor="ctr" rtlCol="false" tIns="50800" lIns="50800" bIns="50800" rIns="50800"/>
            <a:lstStyle/>
            <a:p>
              <a:pPr algn="ctr">
                <a:lnSpc>
                  <a:spcPts val="2698"/>
                </a:lnSpc>
              </a:pPr>
            </a:p>
          </p:txBody>
        </p:sp>
      </p:grpSp>
      <p:sp>
        <p:nvSpPr>
          <p:cNvPr name="Freeform 30" id="30"/>
          <p:cNvSpPr/>
          <p:nvPr/>
        </p:nvSpPr>
        <p:spPr>
          <a:xfrm flipH="false" flipV="false" rot="0">
            <a:off x="1577624" y="5858952"/>
            <a:ext cx="416343" cy="645493"/>
          </a:xfrm>
          <a:custGeom>
            <a:avLst/>
            <a:gdLst/>
            <a:ahLst/>
            <a:cxnLst/>
            <a:rect r="r" b="b" t="t" l="l"/>
            <a:pathLst>
              <a:path h="645493" w="416343">
                <a:moveTo>
                  <a:pt x="0" y="0"/>
                </a:moveTo>
                <a:lnTo>
                  <a:pt x="416343" y="0"/>
                </a:lnTo>
                <a:lnTo>
                  <a:pt x="416343" y="645494"/>
                </a:lnTo>
                <a:lnTo>
                  <a:pt x="0" y="6454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5630933" y="5884785"/>
            <a:ext cx="321410" cy="593829"/>
          </a:xfrm>
          <a:custGeom>
            <a:avLst/>
            <a:gdLst/>
            <a:ahLst/>
            <a:cxnLst/>
            <a:rect r="r" b="b" t="t" l="l"/>
            <a:pathLst>
              <a:path h="593829" w="321410">
                <a:moveTo>
                  <a:pt x="0" y="0"/>
                </a:moveTo>
                <a:lnTo>
                  <a:pt x="321410" y="0"/>
                </a:lnTo>
                <a:lnTo>
                  <a:pt x="321410" y="593828"/>
                </a:lnTo>
                <a:lnTo>
                  <a:pt x="0" y="5938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0">
            <a:off x="9637128" y="5858952"/>
            <a:ext cx="620125" cy="689986"/>
          </a:xfrm>
          <a:custGeom>
            <a:avLst/>
            <a:gdLst/>
            <a:ahLst/>
            <a:cxnLst/>
            <a:rect r="r" b="b" t="t" l="l"/>
            <a:pathLst>
              <a:path h="689986" w="620125">
                <a:moveTo>
                  <a:pt x="0" y="0"/>
                </a:moveTo>
                <a:lnTo>
                  <a:pt x="620125" y="0"/>
                </a:lnTo>
                <a:lnTo>
                  <a:pt x="620125" y="689987"/>
                </a:lnTo>
                <a:lnTo>
                  <a:pt x="0" y="68998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3" id="33"/>
          <p:cNvSpPr/>
          <p:nvPr/>
        </p:nvSpPr>
        <p:spPr>
          <a:xfrm flipH="false" flipV="false" rot="0">
            <a:off x="13590585" y="5925928"/>
            <a:ext cx="644743" cy="534331"/>
          </a:xfrm>
          <a:custGeom>
            <a:avLst/>
            <a:gdLst/>
            <a:ahLst/>
            <a:cxnLst/>
            <a:rect r="r" b="b" t="t" l="l"/>
            <a:pathLst>
              <a:path h="534331" w="644743">
                <a:moveTo>
                  <a:pt x="0" y="0"/>
                </a:moveTo>
                <a:lnTo>
                  <a:pt x="644743" y="0"/>
                </a:lnTo>
                <a:lnTo>
                  <a:pt x="644743" y="534331"/>
                </a:lnTo>
                <a:lnTo>
                  <a:pt x="0" y="53433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4" id="34"/>
          <p:cNvSpPr txBox="true"/>
          <p:nvPr/>
        </p:nvSpPr>
        <p:spPr>
          <a:xfrm rot="0">
            <a:off x="6863621" y="1499974"/>
            <a:ext cx="4854566"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Novel</a:t>
            </a:r>
            <a:r>
              <a:rPr lang="en-US" b="true" sz="5000">
                <a:solidFill>
                  <a:srgbClr val="000000"/>
                </a:solidFill>
                <a:latin typeface="Times New Roman Bold"/>
                <a:ea typeface="Times New Roman Bold"/>
                <a:cs typeface="Times New Roman Bold"/>
                <a:sym typeface="Times New Roman Bold"/>
              </a:rPr>
              <a:t>ty of Idea</a:t>
            </a:r>
          </a:p>
        </p:txBody>
      </p:sp>
      <p:sp>
        <p:nvSpPr>
          <p:cNvPr name="TextBox 35" id="35"/>
          <p:cNvSpPr txBox="true"/>
          <p:nvPr/>
        </p:nvSpPr>
        <p:spPr>
          <a:xfrm rot="0">
            <a:off x="1463779" y="7865173"/>
            <a:ext cx="3032177" cy="676156"/>
          </a:xfrm>
          <a:prstGeom prst="rect">
            <a:avLst/>
          </a:prstGeom>
        </p:spPr>
        <p:txBody>
          <a:bodyPr anchor="t" rtlCol="false" tIns="0" lIns="0" bIns="0" rIns="0">
            <a:spAutoFit/>
          </a:bodyPr>
          <a:lstStyle/>
          <a:p>
            <a:pPr algn="l" marL="0" indent="0" lvl="0">
              <a:lnSpc>
                <a:spcPts val="2792"/>
              </a:lnSpc>
            </a:pPr>
            <a:r>
              <a:rPr lang="en-US" sz="1861">
                <a:solidFill>
                  <a:srgbClr val="FFFFFF"/>
                </a:solidFill>
                <a:latin typeface="Roboto"/>
                <a:ea typeface="Roboto"/>
                <a:cs typeface="Roboto"/>
                <a:sym typeface="Roboto"/>
              </a:rPr>
              <a:t>One app for stations, routing, and safety.</a:t>
            </a:r>
          </a:p>
        </p:txBody>
      </p:sp>
      <p:sp>
        <p:nvSpPr>
          <p:cNvPr name="TextBox 36" id="36"/>
          <p:cNvSpPr txBox="true"/>
          <p:nvPr/>
        </p:nvSpPr>
        <p:spPr>
          <a:xfrm rot="0">
            <a:off x="1436740" y="6693152"/>
            <a:ext cx="3213152" cy="806254"/>
          </a:xfrm>
          <a:prstGeom prst="rect">
            <a:avLst/>
          </a:prstGeom>
        </p:spPr>
        <p:txBody>
          <a:bodyPr anchor="t" rtlCol="false" tIns="0" lIns="0" bIns="0" rIns="0">
            <a:spAutoFit/>
          </a:bodyPr>
          <a:lstStyle/>
          <a:p>
            <a:pPr algn="l">
              <a:lnSpc>
                <a:spcPts val="3258"/>
              </a:lnSpc>
            </a:pPr>
            <a:r>
              <a:rPr lang="en-US" sz="2327" b="true">
                <a:solidFill>
                  <a:srgbClr val="FFFFFF"/>
                </a:solidFill>
                <a:latin typeface="Roboto Bold"/>
                <a:ea typeface="Roboto Bold"/>
                <a:cs typeface="Roboto Bold"/>
                <a:sym typeface="Roboto Bold"/>
              </a:rPr>
              <a:t>Not just a map -</a:t>
            </a:r>
          </a:p>
          <a:p>
            <a:pPr algn="l" marL="0" indent="0" lvl="1">
              <a:lnSpc>
                <a:spcPts val="3258"/>
              </a:lnSpc>
              <a:spcBef>
                <a:spcPct val="0"/>
              </a:spcBef>
            </a:pPr>
            <a:r>
              <a:rPr lang="en-US" b="true" sz="2327">
                <a:solidFill>
                  <a:srgbClr val="FFFFFF"/>
                </a:solidFill>
                <a:latin typeface="Roboto Bold"/>
                <a:ea typeface="Roboto Bold"/>
                <a:cs typeface="Roboto Bold"/>
                <a:sym typeface="Roboto Bold"/>
              </a:rPr>
              <a:t>A smart ecosystem</a:t>
            </a:r>
          </a:p>
        </p:txBody>
      </p:sp>
      <p:sp>
        <p:nvSpPr>
          <p:cNvPr name="TextBox 37" id="37"/>
          <p:cNvSpPr txBox="true"/>
          <p:nvPr/>
        </p:nvSpPr>
        <p:spPr>
          <a:xfrm rot="0">
            <a:off x="5550312" y="7816531"/>
            <a:ext cx="3019604" cy="1017129"/>
          </a:xfrm>
          <a:prstGeom prst="rect">
            <a:avLst/>
          </a:prstGeom>
        </p:spPr>
        <p:txBody>
          <a:bodyPr anchor="t" rtlCol="false" tIns="0" lIns="0" bIns="0" rIns="0">
            <a:spAutoFit/>
          </a:bodyPr>
          <a:lstStyle/>
          <a:p>
            <a:pPr algn="l" marL="0" indent="0" lvl="0">
              <a:lnSpc>
                <a:spcPts val="2781"/>
              </a:lnSpc>
            </a:pPr>
            <a:r>
              <a:rPr lang="en-US" sz="1854">
                <a:solidFill>
                  <a:srgbClr val="FFFFFF"/>
                </a:solidFill>
                <a:latin typeface="Roboto"/>
                <a:ea typeface="Roboto"/>
                <a:cs typeface="Roboto"/>
                <a:sym typeface="Roboto"/>
              </a:rPr>
              <a:t>Routes based on battery level.</a:t>
            </a:r>
          </a:p>
          <a:p>
            <a:pPr algn="l" marL="0" indent="0" lvl="0">
              <a:lnSpc>
                <a:spcPts val="2781"/>
              </a:lnSpc>
            </a:pPr>
          </a:p>
        </p:txBody>
      </p:sp>
      <p:sp>
        <p:nvSpPr>
          <p:cNvPr name="TextBox 38" id="38"/>
          <p:cNvSpPr txBox="true"/>
          <p:nvPr/>
        </p:nvSpPr>
        <p:spPr>
          <a:xfrm rot="0">
            <a:off x="9589309" y="7807006"/>
            <a:ext cx="2952265" cy="669368"/>
          </a:xfrm>
          <a:prstGeom prst="rect">
            <a:avLst/>
          </a:prstGeom>
        </p:spPr>
        <p:txBody>
          <a:bodyPr anchor="t" rtlCol="false" tIns="0" lIns="0" bIns="0" rIns="0">
            <a:spAutoFit/>
          </a:bodyPr>
          <a:lstStyle/>
          <a:p>
            <a:pPr algn="l" marL="0" indent="0" lvl="0">
              <a:lnSpc>
                <a:spcPts val="2719"/>
              </a:lnSpc>
            </a:pPr>
            <a:r>
              <a:rPr lang="en-US" sz="1812">
                <a:solidFill>
                  <a:srgbClr val="FFFFFF"/>
                </a:solidFill>
                <a:latin typeface="Roboto"/>
                <a:ea typeface="Roboto"/>
                <a:cs typeface="Roboto"/>
                <a:sym typeface="Roboto"/>
              </a:rPr>
              <a:t>Users can add verified charging stations </a:t>
            </a:r>
          </a:p>
        </p:txBody>
      </p:sp>
      <p:sp>
        <p:nvSpPr>
          <p:cNvPr name="TextBox 39" id="39"/>
          <p:cNvSpPr txBox="true"/>
          <p:nvPr/>
        </p:nvSpPr>
        <p:spPr>
          <a:xfrm rot="0">
            <a:off x="5550312" y="6693152"/>
            <a:ext cx="2456938" cy="803147"/>
          </a:xfrm>
          <a:prstGeom prst="rect">
            <a:avLst/>
          </a:prstGeom>
        </p:spPr>
        <p:txBody>
          <a:bodyPr anchor="t" rtlCol="false" tIns="0" lIns="0" bIns="0" rIns="0">
            <a:spAutoFit/>
          </a:bodyPr>
          <a:lstStyle/>
          <a:p>
            <a:pPr algn="l" marL="0" indent="0" lvl="1">
              <a:lnSpc>
                <a:spcPts val="3244"/>
              </a:lnSpc>
              <a:spcBef>
                <a:spcPct val="0"/>
              </a:spcBef>
            </a:pPr>
            <a:r>
              <a:rPr lang="en-US" b="true" sz="2317">
                <a:solidFill>
                  <a:srgbClr val="FFFFFF"/>
                </a:solidFill>
                <a:latin typeface="Roboto Bold"/>
                <a:ea typeface="Roboto Bold"/>
                <a:cs typeface="Roboto Bold"/>
                <a:sym typeface="Roboto Bold"/>
              </a:rPr>
              <a:t>Battery-aware navigation</a:t>
            </a:r>
          </a:p>
        </p:txBody>
      </p:sp>
      <p:sp>
        <p:nvSpPr>
          <p:cNvPr name="TextBox 40" id="40"/>
          <p:cNvSpPr txBox="true"/>
          <p:nvPr/>
        </p:nvSpPr>
        <p:spPr>
          <a:xfrm rot="0">
            <a:off x="9565754" y="6731428"/>
            <a:ext cx="2952265" cy="776986"/>
          </a:xfrm>
          <a:prstGeom prst="rect">
            <a:avLst/>
          </a:prstGeom>
        </p:spPr>
        <p:txBody>
          <a:bodyPr anchor="t" rtlCol="false" tIns="0" lIns="0" bIns="0" rIns="0">
            <a:spAutoFit/>
          </a:bodyPr>
          <a:lstStyle/>
          <a:p>
            <a:pPr algn="l" marL="0" indent="0" lvl="1">
              <a:lnSpc>
                <a:spcPts val="3172"/>
              </a:lnSpc>
              <a:spcBef>
                <a:spcPct val="0"/>
              </a:spcBef>
            </a:pPr>
            <a:r>
              <a:rPr lang="en-US" b="true" sz="2265">
                <a:solidFill>
                  <a:srgbClr val="FFFFFF"/>
                </a:solidFill>
                <a:latin typeface="Roboto Bold"/>
                <a:ea typeface="Roboto Bold"/>
                <a:cs typeface="Roboto Bold"/>
                <a:sym typeface="Roboto Bold"/>
              </a:rPr>
              <a:t>Community-driven growth</a:t>
            </a:r>
          </a:p>
        </p:txBody>
      </p:sp>
      <p:sp>
        <p:nvSpPr>
          <p:cNvPr name="TextBox 41" id="41"/>
          <p:cNvSpPr txBox="true"/>
          <p:nvPr/>
        </p:nvSpPr>
        <p:spPr>
          <a:xfrm rot="0">
            <a:off x="13596030" y="7816531"/>
            <a:ext cx="3006113" cy="670835"/>
          </a:xfrm>
          <a:prstGeom prst="rect">
            <a:avLst/>
          </a:prstGeom>
        </p:spPr>
        <p:txBody>
          <a:bodyPr anchor="t" rtlCol="false" tIns="0" lIns="0" bIns="0" rIns="0">
            <a:spAutoFit/>
          </a:bodyPr>
          <a:lstStyle/>
          <a:p>
            <a:pPr algn="l" marL="0" indent="0" lvl="0">
              <a:lnSpc>
                <a:spcPts val="2768"/>
              </a:lnSpc>
            </a:pPr>
            <a:r>
              <a:rPr lang="en-US" sz="1845">
                <a:solidFill>
                  <a:srgbClr val="FFFFFF"/>
                </a:solidFill>
                <a:latin typeface="Roboto"/>
                <a:ea typeface="Roboto"/>
                <a:cs typeface="Roboto"/>
                <a:sym typeface="Roboto"/>
              </a:rPr>
              <a:t>Helps users to connect nearby service providers.</a:t>
            </a:r>
          </a:p>
        </p:txBody>
      </p:sp>
      <p:sp>
        <p:nvSpPr>
          <p:cNvPr name="TextBox 42" id="42"/>
          <p:cNvSpPr txBox="true"/>
          <p:nvPr/>
        </p:nvSpPr>
        <p:spPr>
          <a:xfrm rot="0">
            <a:off x="13482867" y="6699591"/>
            <a:ext cx="3006113" cy="799815"/>
          </a:xfrm>
          <a:prstGeom prst="rect">
            <a:avLst/>
          </a:prstGeom>
        </p:spPr>
        <p:txBody>
          <a:bodyPr anchor="t" rtlCol="false" tIns="0" lIns="0" bIns="0" rIns="0">
            <a:spAutoFit/>
          </a:bodyPr>
          <a:lstStyle/>
          <a:p>
            <a:pPr algn="l" marL="0" indent="0" lvl="1">
              <a:lnSpc>
                <a:spcPts val="3230"/>
              </a:lnSpc>
              <a:spcBef>
                <a:spcPct val="0"/>
              </a:spcBef>
            </a:pPr>
            <a:r>
              <a:rPr lang="en-US" b="true" sz="2307">
                <a:solidFill>
                  <a:srgbClr val="FFFFFF"/>
                </a:solidFill>
                <a:latin typeface="Roboto Bold"/>
                <a:ea typeface="Roboto Bold"/>
                <a:cs typeface="Roboto Bold"/>
                <a:sym typeface="Roboto Bold"/>
              </a:rPr>
              <a:t>Integrated emergency support</a:t>
            </a:r>
          </a:p>
        </p:txBody>
      </p:sp>
      <p:sp>
        <p:nvSpPr>
          <p:cNvPr name="TextBox 43" id="43"/>
          <p:cNvSpPr txBox="true"/>
          <p:nvPr/>
        </p:nvSpPr>
        <p:spPr>
          <a:xfrm rot="0">
            <a:off x="1665806" y="3165645"/>
            <a:ext cx="2628123" cy="2529848"/>
          </a:xfrm>
          <a:prstGeom prst="rect">
            <a:avLst/>
          </a:prstGeom>
        </p:spPr>
        <p:txBody>
          <a:bodyPr anchor="t" rtlCol="false" tIns="0" lIns="0" bIns="0" rIns="0">
            <a:spAutoFit/>
          </a:bodyPr>
          <a:lstStyle/>
          <a:p>
            <a:pPr algn="ctr">
              <a:lnSpc>
                <a:spcPts val="20684"/>
              </a:lnSpc>
              <a:spcBef>
                <a:spcPct val="0"/>
              </a:spcBef>
            </a:pPr>
            <a:r>
              <a:rPr lang="en-US" b="true" sz="14774">
                <a:solidFill>
                  <a:srgbClr val="386C9C"/>
                </a:solidFill>
                <a:latin typeface="Barlow Condensed Semi-Bold"/>
                <a:ea typeface="Barlow Condensed Semi-Bold"/>
                <a:cs typeface="Barlow Condensed Semi-Bold"/>
                <a:sym typeface="Barlow Condensed Semi-Bold"/>
              </a:rPr>
              <a:t>01</a:t>
            </a:r>
          </a:p>
        </p:txBody>
      </p:sp>
      <p:sp>
        <p:nvSpPr>
          <p:cNvPr name="TextBox 44" id="44"/>
          <p:cNvSpPr txBox="true"/>
          <p:nvPr/>
        </p:nvSpPr>
        <p:spPr>
          <a:xfrm rot="0">
            <a:off x="5746053" y="3144624"/>
            <a:ext cx="2628123" cy="2529848"/>
          </a:xfrm>
          <a:prstGeom prst="rect">
            <a:avLst/>
          </a:prstGeom>
        </p:spPr>
        <p:txBody>
          <a:bodyPr anchor="t" rtlCol="false" tIns="0" lIns="0" bIns="0" rIns="0">
            <a:spAutoFit/>
          </a:bodyPr>
          <a:lstStyle/>
          <a:p>
            <a:pPr algn="ctr">
              <a:lnSpc>
                <a:spcPts val="20684"/>
              </a:lnSpc>
              <a:spcBef>
                <a:spcPct val="0"/>
              </a:spcBef>
            </a:pPr>
            <a:r>
              <a:rPr lang="en-US" b="true" sz="14774">
                <a:solidFill>
                  <a:srgbClr val="308FBE"/>
                </a:solidFill>
                <a:latin typeface="Barlow Condensed Semi-Bold"/>
                <a:ea typeface="Barlow Condensed Semi-Bold"/>
                <a:cs typeface="Barlow Condensed Semi-Bold"/>
                <a:sym typeface="Barlow Condensed Semi-Bold"/>
              </a:rPr>
              <a:t>02</a:t>
            </a:r>
          </a:p>
        </p:txBody>
      </p:sp>
      <p:sp>
        <p:nvSpPr>
          <p:cNvPr name="TextBox 45" id="45"/>
          <p:cNvSpPr txBox="true"/>
          <p:nvPr/>
        </p:nvSpPr>
        <p:spPr>
          <a:xfrm rot="0">
            <a:off x="13835700" y="3165645"/>
            <a:ext cx="2628123" cy="2529848"/>
          </a:xfrm>
          <a:prstGeom prst="rect">
            <a:avLst/>
          </a:prstGeom>
        </p:spPr>
        <p:txBody>
          <a:bodyPr anchor="t" rtlCol="false" tIns="0" lIns="0" bIns="0" rIns="0">
            <a:spAutoFit/>
          </a:bodyPr>
          <a:lstStyle/>
          <a:p>
            <a:pPr algn="ctr">
              <a:lnSpc>
                <a:spcPts val="20684"/>
              </a:lnSpc>
              <a:spcBef>
                <a:spcPct val="0"/>
              </a:spcBef>
            </a:pPr>
            <a:r>
              <a:rPr lang="en-US" b="true" sz="14774">
                <a:solidFill>
                  <a:srgbClr val="C34D24"/>
                </a:solidFill>
                <a:latin typeface="Barlow Condensed Semi-Bold"/>
                <a:ea typeface="Barlow Condensed Semi-Bold"/>
                <a:cs typeface="Barlow Condensed Semi-Bold"/>
                <a:sym typeface="Barlow Condensed Semi-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grpSp>
        <p:nvGrpSpPr>
          <p:cNvPr name="Group 9" id="9"/>
          <p:cNvGrpSpPr/>
          <p:nvPr/>
        </p:nvGrpSpPr>
        <p:grpSpPr>
          <a:xfrm rot="-5400000">
            <a:off x="981541" y="3145025"/>
            <a:ext cx="1089593" cy="1331169"/>
            <a:chOff x="0" y="0"/>
            <a:chExt cx="375637" cy="458920"/>
          </a:xfrm>
        </p:grpSpPr>
        <p:sp>
          <p:nvSpPr>
            <p:cNvPr name="Freeform 10" id="10"/>
            <p:cNvSpPr/>
            <p:nvPr/>
          </p:nvSpPr>
          <p:spPr>
            <a:xfrm flipH="false" flipV="false" rot="0">
              <a:off x="0" y="0"/>
              <a:ext cx="375637" cy="443357"/>
            </a:xfrm>
            <a:custGeom>
              <a:avLst/>
              <a:gdLst/>
              <a:ahLst/>
              <a:cxnLst/>
              <a:rect r="r" b="b" t="t" l="l"/>
              <a:pathLst>
                <a:path h="443357" w="375637">
                  <a:moveTo>
                    <a:pt x="375637" y="55510"/>
                  </a:moveTo>
                  <a:lnTo>
                    <a:pt x="375637" y="289110"/>
                  </a:lnTo>
                  <a:cubicBezTo>
                    <a:pt x="375637" y="323581"/>
                    <a:pt x="357664" y="355558"/>
                    <a:pt x="328217" y="373478"/>
                  </a:cubicBezTo>
                  <a:lnTo>
                    <a:pt x="235238" y="430062"/>
                  </a:lnTo>
                  <a:cubicBezTo>
                    <a:pt x="206110" y="447789"/>
                    <a:pt x="169527" y="447789"/>
                    <a:pt x="140399" y="430062"/>
                  </a:cubicBezTo>
                  <a:lnTo>
                    <a:pt x="47420" y="373478"/>
                  </a:lnTo>
                  <a:cubicBezTo>
                    <a:pt x="17973" y="355558"/>
                    <a:pt x="0" y="323581"/>
                    <a:pt x="0" y="289110"/>
                  </a:cubicBezTo>
                  <a:lnTo>
                    <a:pt x="0" y="55510"/>
                  </a:lnTo>
                  <a:cubicBezTo>
                    <a:pt x="0" y="24853"/>
                    <a:pt x="24853" y="0"/>
                    <a:pt x="55510" y="0"/>
                  </a:cubicBezTo>
                  <a:lnTo>
                    <a:pt x="320127" y="0"/>
                  </a:lnTo>
                  <a:cubicBezTo>
                    <a:pt x="350784" y="0"/>
                    <a:pt x="375637" y="24853"/>
                    <a:pt x="375637" y="55510"/>
                  </a:cubicBezTo>
                  <a:close/>
                </a:path>
              </a:pathLst>
            </a:custGeom>
            <a:solidFill>
              <a:srgbClr val="386C9C"/>
            </a:solidFill>
          </p:spPr>
        </p:sp>
        <p:sp>
          <p:nvSpPr>
            <p:cNvPr name="TextBox 11" id="11"/>
            <p:cNvSpPr txBox="true"/>
            <p:nvPr/>
          </p:nvSpPr>
          <p:spPr>
            <a:xfrm>
              <a:off x="0" y="-47625"/>
              <a:ext cx="375637" cy="392245"/>
            </a:xfrm>
            <a:prstGeom prst="rect">
              <a:avLst/>
            </a:prstGeom>
          </p:spPr>
          <p:txBody>
            <a:bodyPr anchor="ctr" rtlCol="false" tIns="50800" lIns="50800" bIns="50800" rIns="50800"/>
            <a:lstStyle/>
            <a:p>
              <a:pPr algn="ctr">
                <a:lnSpc>
                  <a:spcPts val="2763"/>
                </a:lnSpc>
              </a:pPr>
            </a:p>
          </p:txBody>
        </p:sp>
      </p:grpSp>
      <p:grpSp>
        <p:nvGrpSpPr>
          <p:cNvPr name="Group 12" id="12"/>
          <p:cNvGrpSpPr/>
          <p:nvPr/>
        </p:nvGrpSpPr>
        <p:grpSpPr>
          <a:xfrm rot="-5400000">
            <a:off x="981541" y="4469114"/>
            <a:ext cx="1089593" cy="1331169"/>
            <a:chOff x="0" y="0"/>
            <a:chExt cx="375637" cy="458920"/>
          </a:xfrm>
        </p:grpSpPr>
        <p:sp>
          <p:nvSpPr>
            <p:cNvPr name="Freeform 13" id="13"/>
            <p:cNvSpPr/>
            <p:nvPr/>
          </p:nvSpPr>
          <p:spPr>
            <a:xfrm flipH="false" flipV="false" rot="0">
              <a:off x="0" y="0"/>
              <a:ext cx="375637" cy="443357"/>
            </a:xfrm>
            <a:custGeom>
              <a:avLst/>
              <a:gdLst/>
              <a:ahLst/>
              <a:cxnLst/>
              <a:rect r="r" b="b" t="t" l="l"/>
              <a:pathLst>
                <a:path h="443357" w="375637">
                  <a:moveTo>
                    <a:pt x="375637" y="55510"/>
                  </a:moveTo>
                  <a:lnTo>
                    <a:pt x="375637" y="289110"/>
                  </a:lnTo>
                  <a:cubicBezTo>
                    <a:pt x="375637" y="323581"/>
                    <a:pt x="357664" y="355558"/>
                    <a:pt x="328217" y="373478"/>
                  </a:cubicBezTo>
                  <a:lnTo>
                    <a:pt x="235238" y="430062"/>
                  </a:lnTo>
                  <a:cubicBezTo>
                    <a:pt x="206110" y="447789"/>
                    <a:pt x="169527" y="447789"/>
                    <a:pt x="140399" y="430062"/>
                  </a:cubicBezTo>
                  <a:lnTo>
                    <a:pt x="47420" y="373478"/>
                  </a:lnTo>
                  <a:cubicBezTo>
                    <a:pt x="17973" y="355558"/>
                    <a:pt x="0" y="323581"/>
                    <a:pt x="0" y="289110"/>
                  </a:cubicBezTo>
                  <a:lnTo>
                    <a:pt x="0" y="55510"/>
                  </a:lnTo>
                  <a:cubicBezTo>
                    <a:pt x="0" y="24853"/>
                    <a:pt x="24853" y="0"/>
                    <a:pt x="55510" y="0"/>
                  </a:cubicBezTo>
                  <a:lnTo>
                    <a:pt x="320127" y="0"/>
                  </a:lnTo>
                  <a:cubicBezTo>
                    <a:pt x="350784" y="0"/>
                    <a:pt x="375637" y="24853"/>
                    <a:pt x="375637" y="55510"/>
                  </a:cubicBezTo>
                  <a:close/>
                </a:path>
              </a:pathLst>
            </a:custGeom>
            <a:solidFill>
              <a:srgbClr val="308FBE"/>
            </a:solidFill>
          </p:spPr>
        </p:sp>
        <p:sp>
          <p:nvSpPr>
            <p:cNvPr name="TextBox 14" id="14"/>
            <p:cNvSpPr txBox="true"/>
            <p:nvPr/>
          </p:nvSpPr>
          <p:spPr>
            <a:xfrm>
              <a:off x="0" y="-47625"/>
              <a:ext cx="375637" cy="392245"/>
            </a:xfrm>
            <a:prstGeom prst="rect">
              <a:avLst/>
            </a:prstGeom>
          </p:spPr>
          <p:txBody>
            <a:bodyPr anchor="ctr" rtlCol="false" tIns="50800" lIns="50800" bIns="50800" rIns="50800"/>
            <a:lstStyle/>
            <a:p>
              <a:pPr algn="ctr">
                <a:lnSpc>
                  <a:spcPts val="2763"/>
                </a:lnSpc>
              </a:pPr>
            </a:p>
          </p:txBody>
        </p:sp>
      </p:grpSp>
      <p:grpSp>
        <p:nvGrpSpPr>
          <p:cNvPr name="Group 15" id="15"/>
          <p:cNvGrpSpPr/>
          <p:nvPr/>
        </p:nvGrpSpPr>
        <p:grpSpPr>
          <a:xfrm rot="-5400000">
            <a:off x="981541" y="5793203"/>
            <a:ext cx="1089593" cy="1331169"/>
            <a:chOff x="0" y="0"/>
            <a:chExt cx="375637" cy="458920"/>
          </a:xfrm>
        </p:grpSpPr>
        <p:sp>
          <p:nvSpPr>
            <p:cNvPr name="Freeform 16" id="16"/>
            <p:cNvSpPr/>
            <p:nvPr/>
          </p:nvSpPr>
          <p:spPr>
            <a:xfrm flipH="false" flipV="false" rot="0">
              <a:off x="0" y="0"/>
              <a:ext cx="375637" cy="443357"/>
            </a:xfrm>
            <a:custGeom>
              <a:avLst/>
              <a:gdLst/>
              <a:ahLst/>
              <a:cxnLst/>
              <a:rect r="r" b="b" t="t" l="l"/>
              <a:pathLst>
                <a:path h="443357" w="375637">
                  <a:moveTo>
                    <a:pt x="375637" y="55510"/>
                  </a:moveTo>
                  <a:lnTo>
                    <a:pt x="375637" y="289110"/>
                  </a:lnTo>
                  <a:cubicBezTo>
                    <a:pt x="375637" y="323581"/>
                    <a:pt x="357664" y="355558"/>
                    <a:pt x="328217" y="373478"/>
                  </a:cubicBezTo>
                  <a:lnTo>
                    <a:pt x="235238" y="430062"/>
                  </a:lnTo>
                  <a:cubicBezTo>
                    <a:pt x="206110" y="447789"/>
                    <a:pt x="169527" y="447789"/>
                    <a:pt x="140399" y="430062"/>
                  </a:cubicBezTo>
                  <a:lnTo>
                    <a:pt x="47420" y="373478"/>
                  </a:lnTo>
                  <a:cubicBezTo>
                    <a:pt x="17973" y="355558"/>
                    <a:pt x="0" y="323581"/>
                    <a:pt x="0" y="289110"/>
                  </a:cubicBezTo>
                  <a:lnTo>
                    <a:pt x="0" y="55510"/>
                  </a:lnTo>
                  <a:cubicBezTo>
                    <a:pt x="0" y="24853"/>
                    <a:pt x="24853" y="0"/>
                    <a:pt x="55510" y="0"/>
                  </a:cubicBezTo>
                  <a:lnTo>
                    <a:pt x="320127" y="0"/>
                  </a:lnTo>
                  <a:cubicBezTo>
                    <a:pt x="350784" y="0"/>
                    <a:pt x="375637" y="24853"/>
                    <a:pt x="375637" y="55510"/>
                  </a:cubicBezTo>
                  <a:close/>
                </a:path>
              </a:pathLst>
            </a:custGeom>
            <a:solidFill>
              <a:srgbClr val="C34D24"/>
            </a:solidFill>
          </p:spPr>
        </p:sp>
        <p:sp>
          <p:nvSpPr>
            <p:cNvPr name="TextBox 17" id="17"/>
            <p:cNvSpPr txBox="true"/>
            <p:nvPr/>
          </p:nvSpPr>
          <p:spPr>
            <a:xfrm>
              <a:off x="0" y="-47625"/>
              <a:ext cx="375637" cy="392245"/>
            </a:xfrm>
            <a:prstGeom prst="rect">
              <a:avLst/>
            </a:prstGeom>
          </p:spPr>
          <p:txBody>
            <a:bodyPr anchor="ctr" rtlCol="false" tIns="50800" lIns="50800" bIns="50800" rIns="50800"/>
            <a:lstStyle/>
            <a:p>
              <a:pPr algn="ctr">
                <a:lnSpc>
                  <a:spcPts val="2763"/>
                </a:lnSpc>
              </a:pPr>
            </a:p>
          </p:txBody>
        </p:sp>
      </p:grpSp>
      <p:grpSp>
        <p:nvGrpSpPr>
          <p:cNvPr name="Group 18" id="18"/>
          <p:cNvGrpSpPr/>
          <p:nvPr/>
        </p:nvGrpSpPr>
        <p:grpSpPr>
          <a:xfrm rot="-5400000">
            <a:off x="981541" y="7118592"/>
            <a:ext cx="1089593" cy="1331169"/>
            <a:chOff x="0" y="0"/>
            <a:chExt cx="375637" cy="458920"/>
          </a:xfrm>
        </p:grpSpPr>
        <p:sp>
          <p:nvSpPr>
            <p:cNvPr name="Freeform 19" id="19"/>
            <p:cNvSpPr/>
            <p:nvPr/>
          </p:nvSpPr>
          <p:spPr>
            <a:xfrm flipH="false" flipV="false" rot="0">
              <a:off x="0" y="0"/>
              <a:ext cx="375637" cy="443357"/>
            </a:xfrm>
            <a:custGeom>
              <a:avLst/>
              <a:gdLst/>
              <a:ahLst/>
              <a:cxnLst/>
              <a:rect r="r" b="b" t="t" l="l"/>
              <a:pathLst>
                <a:path h="443357" w="375637">
                  <a:moveTo>
                    <a:pt x="375637" y="55510"/>
                  </a:moveTo>
                  <a:lnTo>
                    <a:pt x="375637" y="289110"/>
                  </a:lnTo>
                  <a:cubicBezTo>
                    <a:pt x="375637" y="323581"/>
                    <a:pt x="357664" y="355558"/>
                    <a:pt x="328217" y="373478"/>
                  </a:cubicBezTo>
                  <a:lnTo>
                    <a:pt x="235238" y="430062"/>
                  </a:lnTo>
                  <a:cubicBezTo>
                    <a:pt x="206110" y="447789"/>
                    <a:pt x="169527" y="447789"/>
                    <a:pt x="140399" y="430062"/>
                  </a:cubicBezTo>
                  <a:lnTo>
                    <a:pt x="47420" y="373478"/>
                  </a:lnTo>
                  <a:cubicBezTo>
                    <a:pt x="17973" y="355558"/>
                    <a:pt x="0" y="323581"/>
                    <a:pt x="0" y="289110"/>
                  </a:cubicBezTo>
                  <a:lnTo>
                    <a:pt x="0" y="55510"/>
                  </a:lnTo>
                  <a:cubicBezTo>
                    <a:pt x="0" y="24853"/>
                    <a:pt x="24853" y="0"/>
                    <a:pt x="55510" y="0"/>
                  </a:cubicBezTo>
                  <a:lnTo>
                    <a:pt x="320127" y="0"/>
                  </a:lnTo>
                  <a:cubicBezTo>
                    <a:pt x="350784" y="0"/>
                    <a:pt x="375637" y="24853"/>
                    <a:pt x="375637" y="55510"/>
                  </a:cubicBezTo>
                  <a:close/>
                </a:path>
              </a:pathLst>
            </a:custGeom>
            <a:solidFill>
              <a:srgbClr val="FF7A46"/>
            </a:solidFill>
          </p:spPr>
        </p:sp>
        <p:sp>
          <p:nvSpPr>
            <p:cNvPr name="TextBox 20" id="20"/>
            <p:cNvSpPr txBox="true"/>
            <p:nvPr/>
          </p:nvSpPr>
          <p:spPr>
            <a:xfrm>
              <a:off x="0" y="-47625"/>
              <a:ext cx="375637" cy="392245"/>
            </a:xfrm>
            <a:prstGeom prst="rect">
              <a:avLst/>
            </a:prstGeom>
          </p:spPr>
          <p:txBody>
            <a:bodyPr anchor="ctr" rtlCol="false" tIns="50800" lIns="50800" bIns="50800" rIns="50800"/>
            <a:lstStyle/>
            <a:p>
              <a:pPr algn="ctr">
                <a:lnSpc>
                  <a:spcPts val="2763"/>
                </a:lnSpc>
              </a:pPr>
            </a:p>
          </p:txBody>
        </p:sp>
      </p:grpSp>
      <p:grpSp>
        <p:nvGrpSpPr>
          <p:cNvPr name="Group 21" id="21"/>
          <p:cNvGrpSpPr/>
          <p:nvPr/>
        </p:nvGrpSpPr>
        <p:grpSpPr>
          <a:xfrm rot="-5400000">
            <a:off x="2295904" y="3738619"/>
            <a:ext cx="143982" cy="14398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6C9C"/>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763"/>
                </a:lnSpc>
              </a:pPr>
            </a:p>
          </p:txBody>
        </p:sp>
      </p:grpSp>
      <p:grpSp>
        <p:nvGrpSpPr>
          <p:cNvPr name="Group 24" id="24"/>
          <p:cNvGrpSpPr/>
          <p:nvPr/>
        </p:nvGrpSpPr>
        <p:grpSpPr>
          <a:xfrm rot="-5400000">
            <a:off x="2295904" y="5062708"/>
            <a:ext cx="143982" cy="14398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308FBE"/>
            </a:solidFill>
            <a:ln cap="sq">
              <a:noFill/>
              <a:prstDash val="solid"/>
              <a:miter/>
            </a:ln>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marL="0" indent="0" lvl="0">
                <a:lnSpc>
                  <a:spcPts val="2763"/>
                </a:lnSpc>
                <a:spcBef>
                  <a:spcPct val="0"/>
                </a:spcBef>
              </a:pPr>
            </a:p>
          </p:txBody>
        </p:sp>
      </p:grpSp>
      <p:grpSp>
        <p:nvGrpSpPr>
          <p:cNvPr name="Group 27" id="27"/>
          <p:cNvGrpSpPr/>
          <p:nvPr/>
        </p:nvGrpSpPr>
        <p:grpSpPr>
          <a:xfrm rot="-5400000">
            <a:off x="2295904" y="6386797"/>
            <a:ext cx="143982" cy="143982"/>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C34D24"/>
            </a:solidFill>
            <a:ln cap="sq">
              <a:noFill/>
              <a:prstDash val="solid"/>
              <a:miter/>
            </a:ln>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marL="0" indent="0" lvl="0">
                <a:lnSpc>
                  <a:spcPts val="2763"/>
                </a:lnSpc>
                <a:spcBef>
                  <a:spcPct val="0"/>
                </a:spcBef>
              </a:pPr>
            </a:p>
          </p:txBody>
        </p:sp>
      </p:grpSp>
      <p:grpSp>
        <p:nvGrpSpPr>
          <p:cNvPr name="Group 30" id="30"/>
          <p:cNvGrpSpPr/>
          <p:nvPr/>
        </p:nvGrpSpPr>
        <p:grpSpPr>
          <a:xfrm rot="-5400000">
            <a:off x="2295904" y="7712185"/>
            <a:ext cx="143982" cy="143982"/>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7A46"/>
            </a:solidFill>
            <a:ln cap="sq">
              <a:noFill/>
              <a:prstDash val="solid"/>
              <a:miter/>
            </a:ln>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marL="0" indent="0" lvl="0">
                <a:lnSpc>
                  <a:spcPts val="2763"/>
                </a:lnSpc>
                <a:spcBef>
                  <a:spcPct val="0"/>
                </a:spcBef>
              </a:pPr>
            </a:p>
          </p:txBody>
        </p:sp>
      </p:grpSp>
      <p:sp>
        <p:nvSpPr>
          <p:cNvPr name="Freeform 33" id="33"/>
          <p:cNvSpPr/>
          <p:nvPr/>
        </p:nvSpPr>
        <p:spPr>
          <a:xfrm flipH="false" flipV="false" rot="0">
            <a:off x="3669584" y="3848205"/>
            <a:ext cx="4338349" cy="1334905"/>
          </a:xfrm>
          <a:custGeom>
            <a:avLst/>
            <a:gdLst/>
            <a:ahLst/>
            <a:cxnLst/>
            <a:rect r="r" b="b" t="t" l="l"/>
            <a:pathLst>
              <a:path h="1334905" w="4338349">
                <a:moveTo>
                  <a:pt x="0" y="0"/>
                </a:moveTo>
                <a:lnTo>
                  <a:pt x="4338349" y="0"/>
                </a:lnTo>
                <a:lnTo>
                  <a:pt x="4338349" y="1334905"/>
                </a:lnTo>
                <a:lnTo>
                  <a:pt x="0" y="133490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sp>
        <p:nvSpPr>
          <p:cNvPr name="Freeform 34" id="34"/>
          <p:cNvSpPr/>
          <p:nvPr/>
        </p:nvSpPr>
        <p:spPr>
          <a:xfrm flipH="false" flipV="false" rot="0">
            <a:off x="3669584" y="5123882"/>
            <a:ext cx="4338349" cy="1334905"/>
          </a:xfrm>
          <a:custGeom>
            <a:avLst/>
            <a:gdLst/>
            <a:ahLst/>
            <a:cxnLst/>
            <a:rect r="r" b="b" t="t" l="l"/>
            <a:pathLst>
              <a:path h="1334905" w="4338349">
                <a:moveTo>
                  <a:pt x="0" y="0"/>
                </a:moveTo>
                <a:lnTo>
                  <a:pt x="4338349" y="0"/>
                </a:lnTo>
                <a:lnTo>
                  <a:pt x="4338349" y="1334906"/>
                </a:lnTo>
                <a:lnTo>
                  <a:pt x="0" y="1334906"/>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sp>
        <p:nvSpPr>
          <p:cNvPr name="Freeform 35" id="35"/>
          <p:cNvSpPr/>
          <p:nvPr/>
        </p:nvSpPr>
        <p:spPr>
          <a:xfrm flipH="false" flipV="false" rot="0">
            <a:off x="3669584" y="6458788"/>
            <a:ext cx="4338349" cy="1334905"/>
          </a:xfrm>
          <a:custGeom>
            <a:avLst/>
            <a:gdLst/>
            <a:ahLst/>
            <a:cxnLst/>
            <a:rect r="r" b="b" t="t" l="l"/>
            <a:pathLst>
              <a:path h="1334905" w="4338349">
                <a:moveTo>
                  <a:pt x="0" y="0"/>
                </a:moveTo>
                <a:lnTo>
                  <a:pt x="4338349" y="0"/>
                </a:lnTo>
                <a:lnTo>
                  <a:pt x="4338349" y="1334905"/>
                </a:lnTo>
                <a:lnTo>
                  <a:pt x="0" y="133490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sp>
        <p:nvSpPr>
          <p:cNvPr name="Freeform 36" id="36"/>
          <p:cNvSpPr/>
          <p:nvPr/>
        </p:nvSpPr>
        <p:spPr>
          <a:xfrm flipH="false" flipV="false" rot="0">
            <a:off x="3669584" y="7842930"/>
            <a:ext cx="4338349" cy="1334905"/>
          </a:xfrm>
          <a:custGeom>
            <a:avLst/>
            <a:gdLst/>
            <a:ahLst/>
            <a:cxnLst/>
            <a:rect r="r" b="b" t="t" l="l"/>
            <a:pathLst>
              <a:path h="1334905" w="4338349">
                <a:moveTo>
                  <a:pt x="0" y="0"/>
                </a:moveTo>
                <a:lnTo>
                  <a:pt x="4338349" y="0"/>
                </a:lnTo>
                <a:lnTo>
                  <a:pt x="4338349" y="1334905"/>
                </a:lnTo>
                <a:lnTo>
                  <a:pt x="0" y="133490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grpSp>
        <p:nvGrpSpPr>
          <p:cNvPr name="Group 37" id="37"/>
          <p:cNvGrpSpPr/>
          <p:nvPr/>
        </p:nvGrpSpPr>
        <p:grpSpPr>
          <a:xfrm rot="5400000">
            <a:off x="5114126" y="695555"/>
            <a:ext cx="1089593" cy="6230109"/>
            <a:chOff x="0" y="0"/>
            <a:chExt cx="375637" cy="2147829"/>
          </a:xfrm>
        </p:grpSpPr>
        <p:sp>
          <p:nvSpPr>
            <p:cNvPr name="Freeform 38" id="38"/>
            <p:cNvSpPr/>
            <p:nvPr/>
          </p:nvSpPr>
          <p:spPr>
            <a:xfrm flipH="false" flipV="false" rot="0">
              <a:off x="0" y="0"/>
              <a:ext cx="375637" cy="2132266"/>
            </a:xfrm>
            <a:custGeom>
              <a:avLst/>
              <a:gdLst/>
              <a:ahLst/>
              <a:cxnLst/>
              <a:rect r="r" b="b" t="t" l="l"/>
              <a:pathLst>
                <a:path h="2132266" w="375637">
                  <a:moveTo>
                    <a:pt x="375637" y="55510"/>
                  </a:moveTo>
                  <a:lnTo>
                    <a:pt x="375637" y="1978019"/>
                  </a:lnTo>
                  <a:cubicBezTo>
                    <a:pt x="375637" y="2012490"/>
                    <a:pt x="357664" y="2044467"/>
                    <a:pt x="328217" y="2062387"/>
                  </a:cubicBezTo>
                  <a:lnTo>
                    <a:pt x="235238" y="2118971"/>
                  </a:lnTo>
                  <a:cubicBezTo>
                    <a:pt x="206110" y="2136698"/>
                    <a:pt x="169527" y="2136698"/>
                    <a:pt x="140399" y="2118971"/>
                  </a:cubicBezTo>
                  <a:lnTo>
                    <a:pt x="47420" y="2062387"/>
                  </a:lnTo>
                  <a:cubicBezTo>
                    <a:pt x="17973" y="2044467"/>
                    <a:pt x="0" y="2012490"/>
                    <a:pt x="0" y="1978019"/>
                  </a:cubicBezTo>
                  <a:lnTo>
                    <a:pt x="0" y="55510"/>
                  </a:lnTo>
                  <a:cubicBezTo>
                    <a:pt x="0" y="24853"/>
                    <a:pt x="24853" y="0"/>
                    <a:pt x="55510" y="0"/>
                  </a:cubicBezTo>
                  <a:lnTo>
                    <a:pt x="320127" y="0"/>
                  </a:lnTo>
                  <a:cubicBezTo>
                    <a:pt x="350784" y="0"/>
                    <a:pt x="375637" y="24853"/>
                    <a:pt x="375637" y="55510"/>
                  </a:cubicBezTo>
                  <a:close/>
                </a:path>
              </a:pathLst>
            </a:custGeom>
            <a:solidFill>
              <a:srgbClr val="386C9C"/>
            </a:solidFill>
          </p:spPr>
        </p:sp>
        <p:sp>
          <p:nvSpPr>
            <p:cNvPr name="TextBox 39" id="39"/>
            <p:cNvSpPr txBox="true"/>
            <p:nvPr/>
          </p:nvSpPr>
          <p:spPr>
            <a:xfrm>
              <a:off x="0" y="-47625"/>
              <a:ext cx="375637" cy="2081154"/>
            </a:xfrm>
            <a:prstGeom prst="rect">
              <a:avLst/>
            </a:prstGeom>
          </p:spPr>
          <p:txBody>
            <a:bodyPr anchor="ctr" rtlCol="false" tIns="50800" lIns="50800" bIns="50800" rIns="50800"/>
            <a:lstStyle/>
            <a:p>
              <a:pPr algn="ctr">
                <a:lnSpc>
                  <a:spcPts val="2763"/>
                </a:lnSpc>
              </a:pPr>
            </a:p>
          </p:txBody>
        </p:sp>
      </p:grpSp>
      <p:grpSp>
        <p:nvGrpSpPr>
          <p:cNvPr name="Group 40" id="40"/>
          <p:cNvGrpSpPr/>
          <p:nvPr/>
        </p:nvGrpSpPr>
        <p:grpSpPr>
          <a:xfrm rot="5400000">
            <a:off x="5114126" y="2019644"/>
            <a:ext cx="1089593" cy="6230109"/>
            <a:chOff x="0" y="0"/>
            <a:chExt cx="375637" cy="2147829"/>
          </a:xfrm>
        </p:grpSpPr>
        <p:sp>
          <p:nvSpPr>
            <p:cNvPr name="Freeform 41" id="41"/>
            <p:cNvSpPr/>
            <p:nvPr/>
          </p:nvSpPr>
          <p:spPr>
            <a:xfrm flipH="false" flipV="false" rot="0">
              <a:off x="0" y="0"/>
              <a:ext cx="375637" cy="2132266"/>
            </a:xfrm>
            <a:custGeom>
              <a:avLst/>
              <a:gdLst/>
              <a:ahLst/>
              <a:cxnLst/>
              <a:rect r="r" b="b" t="t" l="l"/>
              <a:pathLst>
                <a:path h="2132266" w="375637">
                  <a:moveTo>
                    <a:pt x="375637" y="55510"/>
                  </a:moveTo>
                  <a:lnTo>
                    <a:pt x="375637" y="1978019"/>
                  </a:lnTo>
                  <a:cubicBezTo>
                    <a:pt x="375637" y="2012490"/>
                    <a:pt x="357664" y="2044467"/>
                    <a:pt x="328217" y="2062387"/>
                  </a:cubicBezTo>
                  <a:lnTo>
                    <a:pt x="235238" y="2118971"/>
                  </a:lnTo>
                  <a:cubicBezTo>
                    <a:pt x="206110" y="2136698"/>
                    <a:pt x="169527" y="2136698"/>
                    <a:pt x="140399" y="2118971"/>
                  </a:cubicBezTo>
                  <a:lnTo>
                    <a:pt x="47420" y="2062387"/>
                  </a:lnTo>
                  <a:cubicBezTo>
                    <a:pt x="17973" y="2044467"/>
                    <a:pt x="0" y="2012490"/>
                    <a:pt x="0" y="1978019"/>
                  </a:cubicBezTo>
                  <a:lnTo>
                    <a:pt x="0" y="55510"/>
                  </a:lnTo>
                  <a:cubicBezTo>
                    <a:pt x="0" y="24853"/>
                    <a:pt x="24853" y="0"/>
                    <a:pt x="55510" y="0"/>
                  </a:cubicBezTo>
                  <a:lnTo>
                    <a:pt x="320127" y="0"/>
                  </a:lnTo>
                  <a:cubicBezTo>
                    <a:pt x="350784" y="0"/>
                    <a:pt x="375637" y="24853"/>
                    <a:pt x="375637" y="55510"/>
                  </a:cubicBezTo>
                  <a:close/>
                </a:path>
              </a:pathLst>
            </a:custGeom>
            <a:solidFill>
              <a:srgbClr val="308FBE"/>
            </a:solidFill>
            <a:ln cap="sq">
              <a:noFill/>
              <a:prstDash val="solid"/>
              <a:miter/>
            </a:ln>
          </p:spPr>
        </p:sp>
        <p:sp>
          <p:nvSpPr>
            <p:cNvPr name="TextBox 42" id="42"/>
            <p:cNvSpPr txBox="true"/>
            <p:nvPr/>
          </p:nvSpPr>
          <p:spPr>
            <a:xfrm>
              <a:off x="0" y="-47625"/>
              <a:ext cx="375637" cy="2081154"/>
            </a:xfrm>
            <a:prstGeom prst="rect">
              <a:avLst/>
            </a:prstGeom>
          </p:spPr>
          <p:txBody>
            <a:bodyPr anchor="ctr" rtlCol="false" tIns="50800" lIns="50800" bIns="50800" rIns="50800"/>
            <a:lstStyle/>
            <a:p>
              <a:pPr algn="ctr" marL="0" indent="0" lvl="0">
                <a:lnSpc>
                  <a:spcPts val="2763"/>
                </a:lnSpc>
                <a:spcBef>
                  <a:spcPct val="0"/>
                </a:spcBef>
              </a:pPr>
            </a:p>
          </p:txBody>
        </p:sp>
      </p:grpSp>
      <p:grpSp>
        <p:nvGrpSpPr>
          <p:cNvPr name="Group 43" id="43"/>
          <p:cNvGrpSpPr/>
          <p:nvPr/>
        </p:nvGrpSpPr>
        <p:grpSpPr>
          <a:xfrm rot="5400000">
            <a:off x="5114126" y="3343733"/>
            <a:ext cx="1089593" cy="6230109"/>
            <a:chOff x="0" y="0"/>
            <a:chExt cx="375637" cy="2147829"/>
          </a:xfrm>
        </p:grpSpPr>
        <p:sp>
          <p:nvSpPr>
            <p:cNvPr name="Freeform 44" id="44"/>
            <p:cNvSpPr/>
            <p:nvPr/>
          </p:nvSpPr>
          <p:spPr>
            <a:xfrm flipH="false" flipV="false" rot="0">
              <a:off x="0" y="0"/>
              <a:ext cx="375637" cy="2132266"/>
            </a:xfrm>
            <a:custGeom>
              <a:avLst/>
              <a:gdLst/>
              <a:ahLst/>
              <a:cxnLst/>
              <a:rect r="r" b="b" t="t" l="l"/>
              <a:pathLst>
                <a:path h="2132266" w="375637">
                  <a:moveTo>
                    <a:pt x="375637" y="55510"/>
                  </a:moveTo>
                  <a:lnTo>
                    <a:pt x="375637" y="1978019"/>
                  </a:lnTo>
                  <a:cubicBezTo>
                    <a:pt x="375637" y="2012490"/>
                    <a:pt x="357664" y="2044467"/>
                    <a:pt x="328217" y="2062387"/>
                  </a:cubicBezTo>
                  <a:lnTo>
                    <a:pt x="235238" y="2118971"/>
                  </a:lnTo>
                  <a:cubicBezTo>
                    <a:pt x="206110" y="2136698"/>
                    <a:pt x="169527" y="2136698"/>
                    <a:pt x="140399" y="2118971"/>
                  </a:cubicBezTo>
                  <a:lnTo>
                    <a:pt x="47420" y="2062387"/>
                  </a:lnTo>
                  <a:cubicBezTo>
                    <a:pt x="17973" y="2044467"/>
                    <a:pt x="0" y="2012490"/>
                    <a:pt x="0" y="1978019"/>
                  </a:cubicBezTo>
                  <a:lnTo>
                    <a:pt x="0" y="55510"/>
                  </a:lnTo>
                  <a:cubicBezTo>
                    <a:pt x="0" y="24853"/>
                    <a:pt x="24853" y="0"/>
                    <a:pt x="55510" y="0"/>
                  </a:cubicBezTo>
                  <a:lnTo>
                    <a:pt x="320127" y="0"/>
                  </a:lnTo>
                  <a:cubicBezTo>
                    <a:pt x="350784" y="0"/>
                    <a:pt x="375637" y="24853"/>
                    <a:pt x="375637" y="55510"/>
                  </a:cubicBezTo>
                  <a:close/>
                </a:path>
              </a:pathLst>
            </a:custGeom>
            <a:solidFill>
              <a:srgbClr val="C34D24"/>
            </a:solidFill>
            <a:ln cap="sq">
              <a:noFill/>
              <a:prstDash val="solid"/>
              <a:miter/>
            </a:ln>
          </p:spPr>
        </p:sp>
        <p:sp>
          <p:nvSpPr>
            <p:cNvPr name="TextBox 45" id="45"/>
            <p:cNvSpPr txBox="true"/>
            <p:nvPr/>
          </p:nvSpPr>
          <p:spPr>
            <a:xfrm>
              <a:off x="0" y="-47625"/>
              <a:ext cx="375637" cy="2081154"/>
            </a:xfrm>
            <a:prstGeom prst="rect">
              <a:avLst/>
            </a:prstGeom>
          </p:spPr>
          <p:txBody>
            <a:bodyPr anchor="ctr" rtlCol="false" tIns="50800" lIns="50800" bIns="50800" rIns="50800"/>
            <a:lstStyle/>
            <a:p>
              <a:pPr algn="ctr" marL="0" indent="0" lvl="0">
                <a:lnSpc>
                  <a:spcPts val="2763"/>
                </a:lnSpc>
                <a:spcBef>
                  <a:spcPct val="0"/>
                </a:spcBef>
              </a:pPr>
            </a:p>
          </p:txBody>
        </p:sp>
      </p:grpSp>
      <p:grpSp>
        <p:nvGrpSpPr>
          <p:cNvPr name="Group 46" id="46"/>
          <p:cNvGrpSpPr/>
          <p:nvPr/>
        </p:nvGrpSpPr>
        <p:grpSpPr>
          <a:xfrm rot="5400000">
            <a:off x="5114126" y="4669122"/>
            <a:ext cx="1089593" cy="6230109"/>
            <a:chOff x="0" y="0"/>
            <a:chExt cx="375637" cy="2147829"/>
          </a:xfrm>
        </p:grpSpPr>
        <p:sp>
          <p:nvSpPr>
            <p:cNvPr name="Freeform 47" id="47"/>
            <p:cNvSpPr/>
            <p:nvPr/>
          </p:nvSpPr>
          <p:spPr>
            <a:xfrm flipH="false" flipV="false" rot="0">
              <a:off x="0" y="0"/>
              <a:ext cx="375637" cy="2132266"/>
            </a:xfrm>
            <a:custGeom>
              <a:avLst/>
              <a:gdLst/>
              <a:ahLst/>
              <a:cxnLst/>
              <a:rect r="r" b="b" t="t" l="l"/>
              <a:pathLst>
                <a:path h="2132266" w="375637">
                  <a:moveTo>
                    <a:pt x="375637" y="55510"/>
                  </a:moveTo>
                  <a:lnTo>
                    <a:pt x="375637" y="1978019"/>
                  </a:lnTo>
                  <a:cubicBezTo>
                    <a:pt x="375637" y="2012490"/>
                    <a:pt x="357664" y="2044467"/>
                    <a:pt x="328217" y="2062387"/>
                  </a:cubicBezTo>
                  <a:lnTo>
                    <a:pt x="235238" y="2118971"/>
                  </a:lnTo>
                  <a:cubicBezTo>
                    <a:pt x="206110" y="2136698"/>
                    <a:pt x="169527" y="2136698"/>
                    <a:pt x="140399" y="2118971"/>
                  </a:cubicBezTo>
                  <a:lnTo>
                    <a:pt x="47420" y="2062387"/>
                  </a:lnTo>
                  <a:cubicBezTo>
                    <a:pt x="17973" y="2044467"/>
                    <a:pt x="0" y="2012490"/>
                    <a:pt x="0" y="1978019"/>
                  </a:cubicBezTo>
                  <a:lnTo>
                    <a:pt x="0" y="55510"/>
                  </a:lnTo>
                  <a:cubicBezTo>
                    <a:pt x="0" y="24853"/>
                    <a:pt x="24853" y="0"/>
                    <a:pt x="55510" y="0"/>
                  </a:cubicBezTo>
                  <a:lnTo>
                    <a:pt x="320127" y="0"/>
                  </a:lnTo>
                  <a:cubicBezTo>
                    <a:pt x="350784" y="0"/>
                    <a:pt x="375637" y="24853"/>
                    <a:pt x="375637" y="55510"/>
                  </a:cubicBezTo>
                  <a:close/>
                </a:path>
              </a:pathLst>
            </a:custGeom>
            <a:solidFill>
              <a:srgbClr val="FF7A46"/>
            </a:solidFill>
            <a:ln cap="sq">
              <a:noFill/>
              <a:prstDash val="solid"/>
              <a:miter/>
            </a:ln>
          </p:spPr>
        </p:sp>
        <p:sp>
          <p:nvSpPr>
            <p:cNvPr name="TextBox 48" id="48"/>
            <p:cNvSpPr txBox="true"/>
            <p:nvPr/>
          </p:nvSpPr>
          <p:spPr>
            <a:xfrm>
              <a:off x="0" y="-47625"/>
              <a:ext cx="375637" cy="2081154"/>
            </a:xfrm>
            <a:prstGeom prst="rect">
              <a:avLst/>
            </a:prstGeom>
          </p:spPr>
          <p:txBody>
            <a:bodyPr anchor="ctr" rtlCol="false" tIns="50800" lIns="50800" bIns="50800" rIns="50800"/>
            <a:lstStyle/>
            <a:p>
              <a:pPr algn="ctr" marL="0" indent="0" lvl="0">
                <a:lnSpc>
                  <a:spcPts val="2763"/>
                </a:lnSpc>
                <a:spcBef>
                  <a:spcPct val="0"/>
                </a:spcBef>
              </a:pPr>
            </a:p>
          </p:txBody>
        </p:sp>
      </p:grpSp>
      <p:grpSp>
        <p:nvGrpSpPr>
          <p:cNvPr name="Group 49" id="49"/>
          <p:cNvGrpSpPr/>
          <p:nvPr/>
        </p:nvGrpSpPr>
        <p:grpSpPr>
          <a:xfrm rot="-5400000">
            <a:off x="1013547" y="8396813"/>
            <a:ext cx="1089593" cy="1331169"/>
            <a:chOff x="0" y="0"/>
            <a:chExt cx="375637" cy="458920"/>
          </a:xfrm>
        </p:grpSpPr>
        <p:sp>
          <p:nvSpPr>
            <p:cNvPr name="Freeform 50" id="50"/>
            <p:cNvSpPr/>
            <p:nvPr/>
          </p:nvSpPr>
          <p:spPr>
            <a:xfrm flipH="false" flipV="false" rot="0">
              <a:off x="0" y="0"/>
              <a:ext cx="375637" cy="443357"/>
            </a:xfrm>
            <a:custGeom>
              <a:avLst/>
              <a:gdLst/>
              <a:ahLst/>
              <a:cxnLst/>
              <a:rect r="r" b="b" t="t" l="l"/>
              <a:pathLst>
                <a:path h="443357" w="375637">
                  <a:moveTo>
                    <a:pt x="375637" y="55510"/>
                  </a:moveTo>
                  <a:lnTo>
                    <a:pt x="375637" y="289110"/>
                  </a:lnTo>
                  <a:cubicBezTo>
                    <a:pt x="375637" y="323581"/>
                    <a:pt x="357664" y="355558"/>
                    <a:pt x="328217" y="373478"/>
                  </a:cubicBezTo>
                  <a:lnTo>
                    <a:pt x="235238" y="430062"/>
                  </a:lnTo>
                  <a:cubicBezTo>
                    <a:pt x="206110" y="447789"/>
                    <a:pt x="169527" y="447789"/>
                    <a:pt x="140399" y="430062"/>
                  </a:cubicBezTo>
                  <a:lnTo>
                    <a:pt x="47420" y="373478"/>
                  </a:lnTo>
                  <a:cubicBezTo>
                    <a:pt x="17973" y="355558"/>
                    <a:pt x="0" y="323581"/>
                    <a:pt x="0" y="289110"/>
                  </a:cubicBezTo>
                  <a:lnTo>
                    <a:pt x="0" y="55510"/>
                  </a:lnTo>
                  <a:cubicBezTo>
                    <a:pt x="0" y="24853"/>
                    <a:pt x="24853" y="0"/>
                    <a:pt x="55510" y="0"/>
                  </a:cubicBezTo>
                  <a:lnTo>
                    <a:pt x="320127" y="0"/>
                  </a:lnTo>
                  <a:cubicBezTo>
                    <a:pt x="350784" y="0"/>
                    <a:pt x="375637" y="24853"/>
                    <a:pt x="375637" y="55510"/>
                  </a:cubicBezTo>
                  <a:close/>
                </a:path>
              </a:pathLst>
            </a:custGeom>
            <a:solidFill>
              <a:srgbClr val="FE69AE"/>
            </a:solidFill>
          </p:spPr>
        </p:sp>
        <p:sp>
          <p:nvSpPr>
            <p:cNvPr name="TextBox 51" id="51"/>
            <p:cNvSpPr txBox="true"/>
            <p:nvPr/>
          </p:nvSpPr>
          <p:spPr>
            <a:xfrm>
              <a:off x="0" y="-47625"/>
              <a:ext cx="375637" cy="392245"/>
            </a:xfrm>
            <a:prstGeom prst="rect">
              <a:avLst/>
            </a:prstGeom>
          </p:spPr>
          <p:txBody>
            <a:bodyPr anchor="ctr" rtlCol="false" tIns="50800" lIns="50800" bIns="50800" rIns="50800"/>
            <a:lstStyle/>
            <a:p>
              <a:pPr algn="ctr">
                <a:lnSpc>
                  <a:spcPts val="2763"/>
                </a:lnSpc>
              </a:pPr>
            </a:p>
          </p:txBody>
        </p:sp>
      </p:grpSp>
      <p:grpSp>
        <p:nvGrpSpPr>
          <p:cNvPr name="Group 52" id="52"/>
          <p:cNvGrpSpPr/>
          <p:nvPr/>
        </p:nvGrpSpPr>
        <p:grpSpPr>
          <a:xfrm rot="-5400000">
            <a:off x="2327910" y="8990407"/>
            <a:ext cx="143982" cy="143982"/>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7A46"/>
            </a:solidFill>
            <a:ln cap="sq">
              <a:noFill/>
              <a:prstDash val="solid"/>
              <a:miter/>
            </a:ln>
          </p:spPr>
        </p:sp>
        <p:sp>
          <p:nvSpPr>
            <p:cNvPr name="TextBox 54" id="54"/>
            <p:cNvSpPr txBox="true"/>
            <p:nvPr/>
          </p:nvSpPr>
          <p:spPr>
            <a:xfrm>
              <a:off x="76200" y="28575"/>
              <a:ext cx="660400" cy="708025"/>
            </a:xfrm>
            <a:prstGeom prst="rect">
              <a:avLst/>
            </a:prstGeom>
          </p:spPr>
          <p:txBody>
            <a:bodyPr anchor="ctr" rtlCol="false" tIns="50800" lIns="50800" bIns="50800" rIns="50800"/>
            <a:lstStyle/>
            <a:p>
              <a:pPr algn="ctr" marL="0" indent="0" lvl="0">
                <a:lnSpc>
                  <a:spcPts val="2763"/>
                </a:lnSpc>
                <a:spcBef>
                  <a:spcPct val="0"/>
                </a:spcBef>
              </a:pPr>
            </a:p>
          </p:txBody>
        </p:sp>
      </p:grpSp>
      <p:sp>
        <p:nvSpPr>
          <p:cNvPr name="Freeform 55" id="55"/>
          <p:cNvSpPr/>
          <p:nvPr/>
        </p:nvSpPr>
        <p:spPr>
          <a:xfrm flipH="false" flipV="false" rot="0">
            <a:off x="3701590" y="9095431"/>
            <a:ext cx="4338349" cy="1334905"/>
          </a:xfrm>
          <a:custGeom>
            <a:avLst/>
            <a:gdLst/>
            <a:ahLst/>
            <a:cxnLst/>
            <a:rect r="r" b="b" t="t" l="l"/>
            <a:pathLst>
              <a:path h="1334905" w="4338349">
                <a:moveTo>
                  <a:pt x="0" y="0"/>
                </a:moveTo>
                <a:lnTo>
                  <a:pt x="4338349" y="0"/>
                </a:lnTo>
                <a:lnTo>
                  <a:pt x="4338349" y="1334906"/>
                </a:lnTo>
                <a:lnTo>
                  <a:pt x="0" y="1334906"/>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sp>
        <p:nvSpPr>
          <p:cNvPr name="Freeform 56" id="56"/>
          <p:cNvSpPr/>
          <p:nvPr/>
        </p:nvSpPr>
        <p:spPr>
          <a:xfrm flipH="false" flipV="false" rot="0">
            <a:off x="3701590" y="9121152"/>
            <a:ext cx="4338349" cy="1334905"/>
          </a:xfrm>
          <a:custGeom>
            <a:avLst/>
            <a:gdLst/>
            <a:ahLst/>
            <a:cxnLst/>
            <a:rect r="r" b="b" t="t" l="l"/>
            <a:pathLst>
              <a:path h="1334905" w="4338349">
                <a:moveTo>
                  <a:pt x="0" y="0"/>
                </a:moveTo>
                <a:lnTo>
                  <a:pt x="4338349" y="0"/>
                </a:lnTo>
                <a:lnTo>
                  <a:pt x="4338349" y="1334905"/>
                </a:lnTo>
                <a:lnTo>
                  <a:pt x="0" y="133490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82402" r="0" b="0"/>
            </a:stretch>
          </a:blipFill>
          <a:ln cap="sq">
            <a:noFill/>
            <a:prstDash val="solid"/>
            <a:miter/>
          </a:ln>
        </p:spPr>
      </p:sp>
      <p:grpSp>
        <p:nvGrpSpPr>
          <p:cNvPr name="Group 57" id="57"/>
          <p:cNvGrpSpPr/>
          <p:nvPr/>
        </p:nvGrpSpPr>
        <p:grpSpPr>
          <a:xfrm rot="5400000">
            <a:off x="5146132" y="5947343"/>
            <a:ext cx="1089593" cy="6230109"/>
            <a:chOff x="0" y="0"/>
            <a:chExt cx="375637" cy="2147829"/>
          </a:xfrm>
        </p:grpSpPr>
        <p:sp>
          <p:nvSpPr>
            <p:cNvPr name="Freeform 58" id="58"/>
            <p:cNvSpPr/>
            <p:nvPr/>
          </p:nvSpPr>
          <p:spPr>
            <a:xfrm flipH="false" flipV="false" rot="0">
              <a:off x="0" y="0"/>
              <a:ext cx="375637" cy="2132266"/>
            </a:xfrm>
            <a:custGeom>
              <a:avLst/>
              <a:gdLst/>
              <a:ahLst/>
              <a:cxnLst/>
              <a:rect r="r" b="b" t="t" l="l"/>
              <a:pathLst>
                <a:path h="2132266" w="375637">
                  <a:moveTo>
                    <a:pt x="375637" y="55510"/>
                  </a:moveTo>
                  <a:lnTo>
                    <a:pt x="375637" y="1978019"/>
                  </a:lnTo>
                  <a:cubicBezTo>
                    <a:pt x="375637" y="2012490"/>
                    <a:pt x="357664" y="2044467"/>
                    <a:pt x="328217" y="2062387"/>
                  </a:cubicBezTo>
                  <a:lnTo>
                    <a:pt x="235238" y="2118971"/>
                  </a:lnTo>
                  <a:cubicBezTo>
                    <a:pt x="206110" y="2136698"/>
                    <a:pt x="169527" y="2136698"/>
                    <a:pt x="140399" y="2118971"/>
                  </a:cubicBezTo>
                  <a:lnTo>
                    <a:pt x="47420" y="2062387"/>
                  </a:lnTo>
                  <a:cubicBezTo>
                    <a:pt x="17973" y="2044467"/>
                    <a:pt x="0" y="2012490"/>
                    <a:pt x="0" y="1978019"/>
                  </a:cubicBezTo>
                  <a:lnTo>
                    <a:pt x="0" y="55510"/>
                  </a:lnTo>
                  <a:cubicBezTo>
                    <a:pt x="0" y="24853"/>
                    <a:pt x="24853" y="0"/>
                    <a:pt x="55510" y="0"/>
                  </a:cubicBezTo>
                  <a:lnTo>
                    <a:pt x="320127" y="0"/>
                  </a:lnTo>
                  <a:cubicBezTo>
                    <a:pt x="350784" y="0"/>
                    <a:pt x="375637" y="24853"/>
                    <a:pt x="375637" y="55510"/>
                  </a:cubicBezTo>
                  <a:close/>
                </a:path>
              </a:pathLst>
            </a:custGeom>
            <a:solidFill>
              <a:srgbClr val="FE69AE"/>
            </a:solidFill>
            <a:ln cap="sq">
              <a:noFill/>
              <a:prstDash val="solid"/>
              <a:miter/>
            </a:ln>
          </p:spPr>
        </p:sp>
        <p:sp>
          <p:nvSpPr>
            <p:cNvPr name="TextBox 59" id="59"/>
            <p:cNvSpPr txBox="true"/>
            <p:nvPr/>
          </p:nvSpPr>
          <p:spPr>
            <a:xfrm>
              <a:off x="0" y="-47625"/>
              <a:ext cx="375637" cy="2081154"/>
            </a:xfrm>
            <a:prstGeom prst="rect">
              <a:avLst/>
            </a:prstGeom>
          </p:spPr>
          <p:txBody>
            <a:bodyPr anchor="ctr" rtlCol="false" tIns="50800" lIns="50800" bIns="50800" rIns="50800"/>
            <a:lstStyle/>
            <a:p>
              <a:pPr algn="ctr" marL="0" indent="0" lvl="0">
                <a:lnSpc>
                  <a:spcPts val="2763"/>
                </a:lnSpc>
                <a:spcBef>
                  <a:spcPct val="0"/>
                </a:spcBef>
              </a:pPr>
            </a:p>
          </p:txBody>
        </p:sp>
      </p:grpSp>
      <p:sp>
        <p:nvSpPr>
          <p:cNvPr name="Freeform 60" id="60"/>
          <p:cNvSpPr/>
          <p:nvPr/>
        </p:nvSpPr>
        <p:spPr>
          <a:xfrm flipH="false" flipV="false" rot="0">
            <a:off x="1088540" y="3552878"/>
            <a:ext cx="597309" cy="551250"/>
          </a:xfrm>
          <a:custGeom>
            <a:avLst/>
            <a:gdLst/>
            <a:ahLst/>
            <a:cxnLst/>
            <a:rect r="r" b="b" t="t" l="l"/>
            <a:pathLst>
              <a:path h="551250" w="597309">
                <a:moveTo>
                  <a:pt x="0" y="0"/>
                </a:moveTo>
                <a:lnTo>
                  <a:pt x="597309" y="0"/>
                </a:lnTo>
                <a:lnTo>
                  <a:pt x="597309" y="551249"/>
                </a:lnTo>
                <a:lnTo>
                  <a:pt x="0" y="5512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1" id="61"/>
          <p:cNvSpPr/>
          <p:nvPr/>
        </p:nvSpPr>
        <p:spPr>
          <a:xfrm flipH="false" flipV="false" rot="0">
            <a:off x="1157749" y="4839018"/>
            <a:ext cx="458891" cy="569730"/>
          </a:xfrm>
          <a:custGeom>
            <a:avLst/>
            <a:gdLst/>
            <a:ahLst/>
            <a:cxnLst/>
            <a:rect r="r" b="b" t="t" l="l"/>
            <a:pathLst>
              <a:path h="569730" w="458891">
                <a:moveTo>
                  <a:pt x="0" y="0"/>
                </a:moveTo>
                <a:lnTo>
                  <a:pt x="458892" y="0"/>
                </a:lnTo>
                <a:lnTo>
                  <a:pt x="458892" y="569729"/>
                </a:lnTo>
                <a:lnTo>
                  <a:pt x="0" y="5697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2" id="62"/>
          <p:cNvSpPr/>
          <p:nvPr/>
        </p:nvSpPr>
        <p:spPr>
          <a:xfrm flipH="false" flipV="false" rot="0">
            <a:off x="1088540" y="7431423"/>
            <a:ext cx="620125" cy="689986"/>
          </a:xfrm>
          <a:custGeom>
            <a:avLst/>
            <a:gdLst/>
            <a:ahLst/>
            <a:cxnLst/>
            <a:rect r="r" b="b" t="t" l="l"/>
            <a:pathLst>
              <a:path h="689986" w="620125">
                <a:moveTo>
                  <a:pt x="0" y="0"/>
                </a:moveTo>
                <a:lnTo>
                  <a:pt x="620126" y="0"/>
                </a:lnTo>
                <a:lnTo>
                  <a:pt x="620126" y="689986"/>
                </a:lnTo>
                <a:lnTo>
                  <a:pt x="0" y="6899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3" id="63"/>
          <p:cNvSpPr/>
          <p:nvPr/>
        </p:nvSpPr>
        <p:spPr>
          <a:xfrm flipH="false" flipV="false" rot="0">
            <a:off x="1076231" y="6194227"/>
            <a:ext cx="644743" cy="534331"/>
          </a:xfrm>
          <a:custGeom>
            <a:avLst/>
            <a:gdLst/>
            <a:ahLst/>
            <a:cxnLst/>
            <a:rect r="r" b="b" t="t" l="l"/>
            <a:pathLst>
              <a:path h="534331" w="644743">
                <a:moveTo>
                  <a:pt x="0" y="0"/>
                </a:moveTo>
                <a:lnTo>
                  <a:pt x="644744" y="0"/>
                </a:lnTo>
                <a:lnTo>
                  <a:pt x="644744" y="534331"/>
                </a:lnTo>
                <a:lnTo>
                  <a:pt x="0" y="5343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64" id="64"/>
          <p:cNvSpPr/>
          <p:nvPr/>
        </p:nvSpPr>
        <p:spPr>
          <a:xfrm flipH="false" flipV="false" rot="0">
            <a:off x="1157749" y="8767123"/>
            <a:ext cx="525487" cy="642798"/>
          </a:xfrm>
          <a:custGeom>
            <a:avLst/>
            <a:gdLst/>
            <a:ahLst/>
            <a:cxnLst/>
            <a:rect r="r" b="b" t="t" l="l"/>
            <a:pathLst>
              <a:path h="642798" w="525487">
                <a:moveTo>
                  <a:pt x="0" y="0"/>
                </a:moveTo>
                <a:lnTo>
                  <a:pt x="525487" y="0"/>
                </a:lnTo>
                <a:lnTo>
                  <a:pt x="525487" y="642797"/>
                </a:lnTo>
                <a:lnTo>
                  <a:pt x="0" y="6427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5" id="65"/>
          <p:cNvSpPr txBox="true"/>
          <p:nvPr/>
        </p:nvSpPr>
        <p:spPr>
          <a:xfrm rot="0">
            <a:off x="5321331" y="1516456"/>
            <a:ext cx="9022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Objec</a:t>
            </a:r>
            <a:r>
              <a:rPr lang="en-US" b="true" sz="5000">
                <a:solidFill>
                  <a:srgbClr val="000000"/>
                </a:solidFill>
                <a:latin typeface="Times New Roman Bold"/>
                <a:ea typeface="Times New Roman Bold"/>
                <a:cs typeface="Times New Roman Bold"/>
                <a:sym typeface="Times New Roman Bold"/>
              </a:rPr>
              <a:t>tives/Scope of Project</a:t>
            </a:r>
          </a:p>
        </p:txBody>
      </p:sp>
      <p:sp>
        <p:nvSpPr>
          <p:cNvPr name="TextBox 66" id="66"/>
          <p:cNvSpPr txBox="true"/>
          <p:nvPr/>
        </p:nvSpPr>
        <p:spPr>
          <a:xfrm rot="0">
            <a:off x="3005030" y="3423148"/>
            <a:ext cx="5800954" cy="708250"/>
          </a:xfrm>
          <a:prstGeom prst="rect">
            <a:avLst/>
          </a:prstGeom>
        </p:spPr>
        <p:txBody>
          <a:bodyPr anchor="t" rtlCol="false" tIns="0" lIns="0" bIns="0" rIns="0">
            <a:spAutoFit/>
          </a:bodyPr>
          <a:lstStyle/>
          <a:p>
            <a:pPr algn="l" marL="0" indent="0" lvl="0">
              <a:lnSpc>
                <a:spcPts val="2894"/>
              </a:lnSpc>
            </a:pPr>
            <a:r>
              <a:rPr lang="en-US" sz="1929">
                <a:solidFill>
                  <a:srgbClr val="FFFFFF"/>
                </a:solidFill>
                <a:latin typeface="Roboto"/>
                <a:ea typeface="Roboto"/>
                <a:cs typeface="Roboto"/>
                <a:sym typeface="Roboto"/>
              </a:rPr>
              <a:t>Provide real-time charging station visibility with accurate location, status, and details.</a:t>
            </a:r>
          </a:p>
        </p:txBody>
      </p:sp>
      <p:sp>
        <p:nvSpPr>
          <p:cNvPr name="TextBox 67" id="67"/>
          <p:cNvSpPr txBox="true"/>
          <p:nvPr/>
        </p:nvSpPr>
        <p:spPr>
          <a:xfrm rot="0">
            <a:off x="2935546" y="4719967"/>
            <a:ext cx="5800954" cy="708250"/>
          </a:xfrm>
          <a:prstGeom prst="rect">
            <a:avLst/>
          </a:prstGeom>
        </p:spPr>
        <p:txBody>
          <a:bodyPr anchor="t" rtlCol="false" tIns="0" lIns="0" bIns="0" rIns="0">
            <a:spAutoFit/>
          </a:bodyPr>
          <a:lstStyle/>
          <a:p>
            <a:pPr algn="l" marL="0" indent="0" lvl="0">
              <a:lnSpc>
                <a:spcPts val="2894"/>
              </a:lnSpc>
            </a:pPr>
            <a:r>
              <a:rPr lang="en-US" sz="1929">
                <a:solidFill>
                  <a:srgbClr val="FFFFFF"/>
                </a:solidFill>
                <a:latin typeface="Roboto"/>
                <a:ea typeface="Roboto"/>
                <a:cs typeface="Roboto"/>
                <a:sym typeface="Roboto"/>
              </a:rPr>
              <a:t>Offer smart navigation that plans routes based on the user’s current battery level and distance.</a:t>
            </a:r>
          </a:p>
        </p:txBody>
      </p:sp>
      <p:sp>
        <p:nvSpPr>
          <p:cNvPr name="TextBox 68" id="68"/>
          <p:cNvSpPr txBox="true"/>
          <p:nvPr/>
        </p:nvSpPr>
        <p:spPr>
          <a:xfrm rot="0">
            <a:off x="2959805" y="6073930"/>
            <a:ext cx="5519398" cy="708250"/>
          </a:xfrm>
          <a:prstGeom prst="rect">
            <a:avLst/>
          </a:prstGeom>
        </p:spPr>
        <p:txBody>
          <a:bodyPr anchor="t" rtlCol="false" tIns="0" lIns="0" bIns="0" rIns="0">
            <a:spAutoFit/>
          </a:bodyPr>
          <a:lstStyle/>
          <a:p>
            <a:pPr algn="l" marL="0" indent="0" lvl="0">
              <a:lnSpc>
                <a:spcPts val="2894"/>
              </a:lnSpc>
            </a:pPr>
            <a:r>
              <a:rPr lang="en-US" sz="1929">
                <a:solidFill>
                  <a:srgbClr val="FFFFFF"/>
                </a:solidFill>
                <a:latin typeface="Roboto"/>
                <a:ea typeface="Roboto"/>
                <a:cs typeface="Roboto"/>
                <a:sym typeface="Roboto"/>
              </a:rPr>
              <a:t>Enable quick emergency support by connecting users to nearby towing or repair services.</a:t>
            </a:r>
          </a:p>
        </p:txBody>
      </p:sp>
      <p:sp>
        <p:nvSpPr>
          <p:cNvPr name="TextBox 69" id="69"/>
          <p:cNvSpPr txBox="true"/>
          <p:nvPr/>
        </p:nvSpPr>
        <p:spPr>
          <a:xfrm rot="0">
            <a:off x="2935546" y="7422684"/>
            <a:ext cx="5519398" cy="708250"/>
          </a:xfrm>
          <a:prstGeom prst="rect">
            <a:avLst/>
          </a:prstGeom>
        </p:spPr>
        <p:txBody>
          <a:bodyPr anchor="t" rtlCol="false" tIns="0" lIns="0" bIns="0" rIns="0">
            <a:spAutoFit/>
          </a:bodyPr>
          <a:lstStyle/>
          <a:p>
            <a:pPr algn="l" marL="0" indent="0" lvl="0">
              <a:lnSpc>
                <a:spcPts val="2894"/>
              </a:lnSpc>
            </a:pPr>
            <a:r>
              <a:rPr lang="en-US" sz="1929">
                <a:solidFill>
                  <a:srgbClr val="FFFFFF"/>
                </a:solidFill>
                <a:latin typeface="Roboto"/>
                <a:ea typeface="Roboto"/>
                <a:cs typeface="Roboto"/>
                <a:sym typeface="Roboto"/>
              </a:rPr>
              <a:t>Maintain a community-driven database where users can add new stations with photos and GPS.</a:t>
            </a:r>
          </a:p>
        </p:txBody>
      </p:sp>
      <p:sp>
        <p:nvSpPr>
          <p:cNvPr name="TextBox 70" id="70"/>
          <p:cNvSpPr txBox="true"/>
          <p:nvPr/>
        </p:nvSpPr>
        <p:spPr>
          <a:xfrm rot="0">
            <a:off x="2959904" y="8548827"/>
            <a:ext cx="5776596" cy="1039317"/>
          </a:xfrm>
          <a:prstGeom prst="rect">
            <a:avLst/>
          </a:prstGeom>
        </p:spPr>
        <p:txBody>
          <a:bodyPr anchor="t" rtlCol="false" tIns="0" lIns="0" bIns="0" rIns="0">
            <a:spAutoFit/>
          </a:bodyPr>
          <a:lstStyle/>
          <a:p>
            <a:pPr algn="l" marL="0" indent="0" lvl="0">
              <a:lnSpc>
                <a:spcPts val="2817"/>
              </a:lnSpc>
            </a:pPr>
            <a:r>
              <a:rPr lang="en-US" sz="1878">
                <a:solidFill>
                  <a:srgbClr val="FFFFFF"/>
                </a:solidFill>
                <a:latin typeface="Roboto"/>
                <a:ea typeface="Roboto"/>
                <a:cs typeface="Roboto"/>
                <a:sym typeface="Roboto"/>
              </a:rPr>
              <a:t>Ensure a secure and scalable system using a cloud backend, real-time database, and cross-platform mobile app.</a:t>
            </a:r>
          </a:p>
        </p:txBody>
      </p:sp>
      <p:grpSp>
        <p:nvGrpSpPr>
          <p:cNvPr name="Group 71" id="71"/>
          <p:cNvGrpSpPr/>
          <p:nvPr/>
        </p:nvGrpSpPr>
        <p:grpSpPr>
          <a:xfrm rot="0">
            <a:off x="9301283" y="3265814"/>
            <a:ext cx="8257590" cy="1089593"/>
            <a:chOff x="0" y="0"/>
            <a:chExt cx="538081" cy="71000"/>
          </a:xfrm>
        </p:grpSpPr>
        <p:sp>
          <p:nvSpPr>
            <p:cNvPr name="Freeform 72" id="72"/>
            <p:cNvSpPr/>
            <p:nvPr/>
          </p:nvSpPr>
          <p:spPr>
            <a:xfrm flipH="false" flipV="false" rot="0">
              <a:off x="0" y="0"/>
              <a:ext cx="538081" cy="71000"/>
            </a:xfrm>
            <a:custGeom>
              <a:avLst/>
              <a:gdLst/>
              <a:ahLst/>
              <a:cxnLst/>
              <a:rect r="r" b="b" t="t" l="l"/>
              <a:pathLst>
                <a:path h="71000" w="538081">
                  <a:moveTo>
                    <a:pt x="35500" y="0"/>
                  </a:moveTo>
                  <a:lnTo>
                    <a:pt x="502581" y="0"/>
                  </a:lnTo>
                  <a:cubicBezTo>
                    <a:pt x="511996" y="0"/>
                    <a:pt x="521026" y="3740"/>
                    <a:pt x="527683" y="10398"/>
                  </a:cubicBezTo>
                  <a:cubicBezTo>
                    <a:pt x="534341" y="17055"/>
                    <a:pt x="538081" y="26085"/>
                    <a:pt x="538081" y="35500"/>
                  </a:cubicBezTo>
                  <a:lnTo>
                    <a:pt x="538081" y="35500"/>
                  </a:lnTo>
                  <a:cubicBezTo>
                    <a:pt x="538081" y="55106"/>
                    <a:pt x="522187" y="71000"/>
                    <a:pt x="502581" y="71000"/>
                  </a:cubicBezTo>
                  <a:lnTo>
                    <a:pt x="35500" y="71000"/>
                  </a:lnTo>
                  <a:cubicBezTo>
                    <a:pt x="26085" y="71000"/>
                    <a:pt x="17055" y="67260"/>
                    <a:pt x="10398" y="60602"/>
                  </a:cubicBezTo>
                  <a:cubicBezTo>
                    <a:pt x="3740" y="53945"/>
                    <a:pt x="0" y="44915"/>
                    <a:pt x="0" y="35500"/>
                  </a:cubicBezTo>
                  <a:lnTo>
                    <a:pt x="0" y="35500"/>
                  </a:lnTo>
                  <a:cubicBezTo>
                    <a:pt x="0" y="26085"/>
                    <a:pt x="3740" y="17055"/>
                    <a:pt x="10398" y="10398"/>
                  </a:cubicBezTo>
                  <a:cubicBezTo>
                    <a:pt x="17055" y="3740"/>
                    <a:pt x="26085" y="0"/>
                    <a:pt x="35500" y="0"/>
                  </a:cubicBezTo>
                  <a:close/>
                </a:path>
              </a:pathLst>
            </a:custGeom>
            <a:solidFill>
              <a:srgbClr val="386C9C"/>
            </a:solidFill>
          </p:spPr>
        </p:sp>
        <p:sp>
          <p:nvSpPr>
            <p:cNvPr name="TextBox 73" id="73"/>
            <p:cNvSpPr txBox="true"/>
            <p:nvPr/>
          </p:nvSpPr>
          <p:spPr>
            <a:xfrm>
              <a:off x="0" y="-47625"/>
              <a:ext cx="538081" cy="118625"/>
            </a:xfrm>
            <a:prstGeom prst="rect">
              <a:avLst/>
            </a:prstGeom>
          </p:spPr>
          <p:txBody>
            <a:bodyPr anchor="ctr" rtlCol="false" tIns="50800" lIns="50800" bIns="50800" rIns="50800"/>
            <a:lstStyle/>
            <a:p>
              <a:pPr algn="ctr">
                <a:lnSpc>
                  <a:spcPts val="2763"/>
                </a:lnSpc>
              </a:pPr>
            </a:p>
          </p:txBody>
        </p:sp>
      </p:grpSp>
      <p:sp>
        <p:nvSpPr>
          <p:cNvPr name="TextBox 74" id="74"/>
          <p:cNvSpPr txBox="true"/>
          <p:nvPr/>
        </p:nvSpPr>
        <p:spPr>
          <a:xfrm rot="0">
            <a:off x="9520358" y="3525915"/>
            <a:ext cx="7798554" cy="493190"/>
          </a:xfrm>
          <a:prstGeom prst="rect">
            <a:avLst/>
          </a:prstGeom>
        </p:spPr>
        <p:txBody>
          <a:bodyPr anchor="t" rtlCol="false" tIns="0" lIns="0" bIns="0" rIns="0">
            <a:spAutoFit/>
          </a:bodyPr>
          <a:lstStyle/>
          <a:p>
            <a:pPr algn="ctr" marL="0" indent="0" lvl="1">
              <a:lnSpc>
                <a:spcPts val="3990"/>
              </a:lnSpc>
            </a:pPr>
            <a:r>
              <a:rPr lang="en-US" b="true" sz="3069">
                <a:solidFill>
                  <a:srgbClr val="000000"/>
                </a:solidFill>
                <a:latin typeface="Roboto Bold"/>
                <a:ea typeface="Roboto Bold"/>
                <a:cs typeface="Roboto Bold"/>
                <a:sym typeface="Roboto Bold"/>
              </a:rPr>
              <a:t>Mobile app for EV navigation &amp; assistance.</a:t>
            </a:r>
          </a:p>
        </p:txBody>
      </p:sp>
      <p:grpSp>
        <p:nvGrpSpPr>
          <p:cNvPr name="Group 75" id="75"/>
          <p:cNvGrpSpPr/>
          <p:nvPr/>
        </p:nvGrpSpPr>
        <p:grpSpPr>
          <a:xfrm rot="0">
            <a:off x="9301283" y="4589902"/>
            <a:ext cx="8257590" cy="1089593"/>
            <a:chOff x="0" y="0"/>
            <a:chExt cx="538081" cy="71000"/>
          </a:xfrm>
        </p:grpSpPr>
        <p:sp>
          <p:nvSpPr>
            <p:cNvPr name="Freeform 76" id="76"/>
            <p:cNvSpPr/>
            <p:nvPr/>
          </p:nvSpPr>
          <p:spPr>
            <a:xfrm flipH="false" flipV="false" rot="0">
              <a:off x="0" y="0"/>
              <a:ext cx="538081" cy="71000"/>
            </a:xfrm>
            <a:custGeom>
              <a:avLst/>
              <a:gdLst/>
              <a:ahLst/>
              <a:cxnLst/>
              <a:rect r="r" b="b" t="t" l="l"/>
              <a:pathLst>
                <a:path h="71000" w="538081">
                  <a:moveTo>
                    <a:pt x="35500" y="0"/>
                  </a:moveTo>
                  <a:lnTo>
                    <a:pt x="502581" y="0"/>
                  </a:lnTo>
                  <a:cubicBezTo>
                    <a:pt x="511996" y="0"/>
                    <a:pt x="521026" y="3740"/>
                    <a:pt x="527683" y="10398"/>
                  </a:cubicBezTo>
                  <a:cubicBezTo>
                    <a:pt x="534341" y="17055"/>
                    <a:pt x="538081" y="26085"/>
                    <a:pt x="538081" y="35500"/>
                  </a:cubicBezTo>
                  <a:lnTo>
                    <a:pt x="538081" y="35500"/>
                  </a:lnTo>
                  <a:cubicBezTo>
                    <a:pt x="538081" y="55106"/>
                    <a:pt x="522187" y="71000"/>
                    <a:pt x="502581" y="71000"/>
                  </a:cubicBezTo>
                  <a:lnTo>
                    <a:pt x="35500" y="71000"/>
                  </a:lnTo>
                  <a:cubicBezTo>
                    <a:pt x="26085" y="71000"/>
                    <a:pt x="17055" y="67260"/>
                    <a:pt x="10398" y="60602"/>
                  </a:cubicBezTo>
                  <a:cubicBezTo>
                    <a:pt x="3740" y="53945"/>
                    <a:pt x="0" y="44915"/>
                    <a:pt x="0" y="35500"/>
                  </a:cubicBezTo>
                  <a:lnTo>
                    <a:pt x="0" y="35500"/>
                  </a:lnTo>
                  <a:cubicBezTo>
                    <a:pt x="0" y="26085"/>
                    <a:pt x="3740" y="17055"/>
                    <a:pt x="10398" y="10398"/>
                  </a:cubicBezTo>
                  <a:cubicBezTo>
                    <a:pt x="17055" y="3740"/>
                    <a:pt x="26085" y="0"/>
                    <a:pt x="35500" y="0"/>
                  </a:cubicBezTo>
                  <a:close/>
                </a:path>
              </a:pathLst>
            </a:custGeom>
            <a:solidFill>
              <a:srgbClr val="308FBE"/>
            </a:solidFill>
          </p:spPr>
        </p:sp>
        <p:sp>
          <p:nvSpPr>
            <p:cNvPr name="TextBox 77" id="77"/>
            <p:cNvSpPr txBox="true"/>
            <p:nvPr/>
          </p:nvSpPr>
          <p:spPr>
            <a:xfrm>
              <a:off x="0" y="-47625"/>
              <a:ext cx="538081" cy="118625"/>
            </a:xfrm>
            <a:prstGeom prst="rect">
              <a:avLst/>
            </a:prstGeom>
          </p:spPr>
          <p:txBody>
            <a:bodyPr anchor="ctr" rtlCol="false" tIns="50800" lIns="50800" bIns="50800" rIns="50800"/>
            <a:lstStyle/>
            <a:p>
              <a:pPr algn="ctr">
                <a:lnSpc>
                  <a:spcPts val="2763"/>
                </a:lnSpc>
              </a:pPr>
            </a:p>
          </p:txBody>
        </p:sp>
      </p:grpSp>
      <p:sp>
        <p:nvSpPr>
          <p:cNvPr name="TextBox 78" id="78"/>
          <p:cNvSpPr txBox="true"/>
          <p:nvPr/>
        </p:nvSpPr>
        <p:spPr>
          <a:xfrm rot="0">
            <a:off x="9697902" y="4852864"/>
            <a:ext cx="7798554" cy="503936"/>
          </a:xfrm>
          <a:prstGeom prst="rect">
            <a:avLst/>
          </a:prstGeom>
        </p:spPr>
        <p:txBody>
          <a:bodyPr anchor="t" rtlCol="false" tIns="0" lIns="0" bIns="0" rIns="0">
            <a:spAutoFit/>
          </a:bodyPr>
          <a:lstStyle/>
          <a:p>
            <a:pPr algn="l" marL="0" indent="0" lvl="1">
              <a:lnSpc>
                <a:spcPts val="3990"/>
              </a:lnSpc>
            </a:pPr>
            <a:r>
              <a:rPr lang="en-US" b="true" sz="3069">
                <a:solidFill>
                  <a:srgbClr val="000000"/>
                </a:solidFill>
                <a:latin typeface="Roboto Bold"/>
                <a:ea typeface="Roboto Bold"/>
                <a:cs typeface="Roboto Bold"/>
                <a:sym typeface="Roboto Bold"/>
              </a:rPr>
              <a:t>Real-time charging station mapping.</a:t>
            </a:r>
          </a:p>
        </p:txBody>
      </p:sp>
      <p:grpSp>
        <p:nvGrpSpPr>
          <p:cNvPr name="Group 79" id="79"/>
          <p:cNvGrpSpPr/>
          <p:nvPr/>
        </p:nvGrpSpPr>
        <p:grpSpPr>
          <a:xfrm rot="0">
            <a:off x="9345477" y="5929759"/>
            <a:ext cx="8257590" cy="1089593"/>
            <a:chOff x="0" y="0"/>
            <a:chExt cx="538081" cy="71000"/>
          </a:xfrm>
        </p:grpSpPr>
        <p:sp>
          <p:nvSpPr>
            <p:cNvPr name="Freeform 80" id="80"/>
            <p:cNvSpPr/>
            <p:nvPr/>
          </p:nvSpPr>
          <p:spPr>
            <a:xfrm flipH="false" flipV="false" rot="0">
              <a:off x="0" y="0"/>
              <a:ext cx="538081" cy="71000"/>
            </a:xfrm>
            <a:custGeom>
              <a:avLst/>
              <a:gdLst/>
              <a:ahLst/>
              <a:cxnLst/>
              <a:rect r="r" b="b" t="t" l="l"/>
              <a:pathLst>
                <a:path h="71000" w="538081">
                  <a:moveTo>
                    <a:pt x="35500" y="0"/>
                  </a:moveTo>
                  <a:lnTo>
                    <a:pt x="502581" y="0"/>
                  </a:lnTo>
                  <a:cubicBezTo>
                    <a:pt x="511996" y="0"/>
                    <a:pt x="521026" y="3740"/>
                    <a:pt x="527683" y="10398"/>
                  </a:cubicBezTo>
                  <a:cubicBezTo>
                    <a:pt x="534341" y="17055"/>
                    <a:pt x="538081" y="26085"/>
                    <a:pt x="538081" y="35500"/>
                  </a:cubicBezTo>
                  <a:lnTo>
                    <a:pt x="538081" y="35500"/>
                  </a:lnTo>
                  <a:cubicBezTo>
                    <a:pt x="538081" y="55106"/>
                    <a:pt x="522187" y="71000"/>
                    <a:pt x="502581" y="71000"/>
                  </a:cubicBezTo>
                  <a:lnTo>
                    <a:pt x="35500" y="71000"/>
                  </a:lnTo>
                  <a:cubicBezTo>
                    <a:pt x="26085" y="71000"/>
                    <a:pt x="17055" y="67260"/>
                    <a:pt x="10398" y="60602"/>
                  </a:cubicBezTo>
                  <a:cubicBezTo>
                    <a:pt x="3740" y="53945"/>
                    <a:pt x="0" y="44915"/>
                    <a:pt x="0" y="35500"/>
                  </a:cubicBezTo>
                  <a:lnTo>
                    <a:pt x="0" y="35500"/>
                  </a:lnTo>
                  <a:cubicBezTo>
                    <a:pt x="0" y="26085"/>
                    <a:pt x="3740" y="17055"/>
                    <a:pt x="10398" y="10398"/>
                  </a:cubicBezTo>
                  <a:cubicBezTo>
                    <a:pt x="17055" y="3740"/>
                    <a:pt x="26085" y="0"/>
                    <a:pt x="35500" y="0"/>
                  </a:cubicBezTo>
                  <a:close/>
                </a:path>
              </a:pathLst>
            </a:custGeom>
            <a:solidFill>
              <a:srgbClr val="C34D24"/>
            </a:solidFill>
          </p:spPr>
        </p:sp>
        <p:sp>
          <p:nvSpPr>
            <p:cNvPr name="TextBox 81" id="81"/>
            <p:cNvSpPr txBox="true"/>
            <p:nvPr/>
          </p:nvSpPr>
          <p:spPr>
            <a:xfrm>
              <a:off x="0" y="-47625"/>
              <a:ext cx="538081" cy="118625"/>
            </a:xfrm>
            <a:prstGeom prst="rect">
              <a:avLst/>
            </a:prstGeom>
          </p:spPr>
          <p:txBody>
            <a:bodyPr anchor="ctr" rtlCol="false" tIns="50800" lIns="50800" bIns="50800" rIns="50800"/>
            <a:lstStyle/>
            <a:p>
              <a:pPr algn="ctr">
                <a:lnSpc>
                  <a:spcPts val="2763"/>
                </a:lnSpc>
              </a:pPr>
            </a:p>
          </p:txBody>
        </p:sp>
      </p:grpSp>
      <p:sp>
        <p:nvSpPr>
          <p:cNvPr name="TextBox 82" id="82"/>
          <p:cNvSpPr txBox="true"/>
          <p:nvPr/>
        </p:nvSpPr>
        <p:spPr>
          <a:xfrm rot="0">
            <a:off x="9697902" y="6203538"/>
            <a:ext cx="6626543" cy="503936"/>
          </a:xfrm>
          <a:prstGeom prst="rect">
            <a:avLst/>
          </a:prstGeom>
        </p:spPr>
        <p:txBody>
          <a:bodyPr anchor="t" rtlCol="false" tIns="0" lIns="0" bIns="0" rIns="0">
            <a:spAutoFit/>
          </a:bodyPr>
          <a:lstStyle/>
          <a:p>
            <a:pPr algn="l" marL="0" indent="0" lvl="1">
              <a:lnSpc>
                <a:spcPts val="3990"/>
              </a:lnSpc>
            </a:pPr>
            <a:r>
              <a:rPr lang="en-US" b="true" sz="3069">
                <a:solidFill>
                  <a:srgbClr val="000000"/>
                </a:solidFill>
                <a:latin typeface="Roboto Bold"/>
                <a:ea typeface="Roboto Bold"/>
                <a:cs typeface="Roboto Bold"/>
                <a:sym typeface="Roboto Bold"/>
              </a:rPr>
              <a:t>SOS emergency support.</a:t>
            </a:r>
          </a:p>
        </p:txBody>
      </p:sp>
      <p:grpSp>
        <p:nvGrpSpPr>
          <p:cNvPr name="Group 83" id="83"/>
          <p:cNvGrpSpPr/>
          <p:nvPr/>
        </p:nvGrpSpPr>
        <p:grpSpPr>
          <a:xfrm rot="0">
            <a:off x="9386171" y="7231619"/>
            <a:ext cx="8257590" cy="1089593"/>
            <a:chOff x="0" y="0"/>
            <a:chExt cx="538081" cy="71000"/>
          </a:xfrm>
        </p:grpSpPr>
        <p:sp>
          <p:nvSpPr>
            <p:cNvPr name="Freeform 84" id="84"/>
            <p:cNvSpPr/>
            <p:nvPr/>
          </p:nvSpPr>
          <p:spPr>
            <a:xfrm flipH="false" flipV="false" rot="0">
              <a:off x="0" y="0"/>
              <a:ext cx="538081" cy="71000"/>
            </a:xfrm>
            <a:custGeom>
              <a:avLst/>
              <a:gdLst/>
              <a:ahLst/>
              <a:cxnLst/>
              <a:rect r="r" b="b" t="t" l="l"/>
              <a:pathLst>
                <a:path h="71000" w="538081">
                  <a:moveTo>
                    <a:pt x="35500" y="0"/>
                  </a:moveTo>
                  <a:lnTo>
                    <a:pt x="502581" y="0"/>
                  </a:lnTo>
                  <a:cubicBezTo>
                    <a:pt x="511996" y="0"/>
                    <a:pt x="521026" y="3740"/>
                    <a:pt x="527683" y="10398"/>
                  </a:cubicBezTo>
                  <a:cubicBezTo>
                    <a:pt x="534341" y="17055"/>
                    <a:pt x="538081" y="26085"/>
                    <a:pt x="538081" y="35500"/>
                  </a:cubicBezTo>
                  <a:lnTo>
                    <a:pt x="538081" y="35500"/>
                  </a:lnTo>
                  <a:cubicBezTo>
                    <a:pt x="538081" y="55106"/>
                    <a:pt x="522187" y="71000"/>
                    <a:pt x="502581" y="71000"/>
                  </a:cubicBezTo>
                  <a:lnTo>
                    <a:pt x="35500" y="71000"/>
                  </a:lnTo>
                  <a:cubicBezTo>
                    <a:pt x="26085" y="71000"/>
                    <a:pt x="17055" y="67260"/>
                    <a:pt x="10398" y="60602"/>
                  </a:cubicBezTo>
                  <a:cubicBezTo>
                    <a:pt x="3740" y="53945"/>
                    <a:pt x="0" y="44915"/>
                    <a:pt x="0" y="35500"/>
                  </a:cubicBezTo>
                  <a:lnTo>
                    <a:pt x="0" y="35500"/>
                  </a:lnTo>
                  <a:cubicBezTo>
                    <a:pt x="0" y="26085"/>
                    <a:pt x="3740" y="17055"/>
                    <a:pt x="10398" y="10398"/>
                  </a:cubicBezTo>
                  <a:cubicBezTo>
                    <a:pt x="17055" y="3740"/>
                    <a:pt x="26085" y="0"/>
                    <a:pt x="35500" y="0"/>
                  </a:cubicBezTo>
                  <a:close/>
                </a:path>
              </a:pathLst>
            </a:custGeom>
            <a:solidFill>
              <a:srgbClr val="FF7A46"/>
            </a:solidFill>
          </p:spPr>
        </p:sp>
        <p:sp>
          <p:nvSpPr>
            <p:cNvPr name="TextBox 85" id="85"/>
            <p:cNvSpPr txBox="true"/>
            <p:nvPr/>
          </p:nvSpPr>
          <p:spPr>
            <a:xfrm>
              <a:off x="0" y="-47625"/>
              <a:ext cx="538081" cy="118625"/>
            </a:xfrm>
            <a:prstGeom prst="rect">
              <a:avLst/>
            </a:prstGeom>
          </p:spPr>
          <p:txBody>
            <a:bodyPr anchor="ctr" rtlCol="false" tIns="50800" lIns="50800" bIns="50800" rIns="50800"/>
            <a:lstStyle/>
            <a:p>
              <a:pPr algn="ctr">
                <a:lnSpc>
                  <a:spcPts val="2763"/>
                </a:lnSpc>
              </a:pPr>
            </a:p>
          </p:txBody>
        </p:sp>
      </p:grpSp>
      <p:sp>
        <p:nvSpPr>
          <p:cNvPr name="TextBox 86" id="86"/>
          <p:cNvSpPr txBox="true"/>
          <p:nvPr/>
        </p:nvSpPr>
        <p:spPr>
          <a:xfrm rot="0">
            <a:off x="9697902" y="7505398"/>
            <a:ext cx="6626543" cy="503936"/>
          </a:xfrm>
          <a:prstGeom prst="rect">
            <a:avLst/>
          </a:prstGeom>
        </p:spPr>
        <p:txBody>
          <a:bodyPr anchor="t" rtlCol="false" tIns="0" lIns="0" bIns="0" rIns="0">
            <a:spAutoFit/>
          </a:bodyPr>
          <a:lstStyle/>
          <a:p>
            <a:pPr algn="l" marL="0" indent="0" lvl="1">
              <a:lnSpc>
                <a:spcPts val="3990"/>
              </a:lnSpc>
            </a:pPr>
            <a:r>
              <a:rPr lang="en-US" b="true" sz="3069">
                <a:solidFill>
                  <a:srgbClr val="000000"/>
                </a:solidFill>
                <a:latin typeface="Roboto Bold"/>
                <a:ea typeface="Roboto Bold"/>
                <a:cs typeface="Roboto Bold"/>
                <a:sym typeface="Roboto Bold"/>
              </a:rPr>
              <a:t>User-added station contributions.</a:t>
            </a:r>
          </a:p>
        </p:txBody>
      </p:sp>
      <p:grpSp>
        <p:nvGrpSpPr>
          <p:cNvPr name="Group 87" id="87"/>
          <p:cNvGrpSpPr/>
          <p:nvPr/>
        </p:nvGrpSpPr>
        <p:grpSpPr>
          <a:xfrm rot="0">
            <a:off x="9386171" y="8557027"/>
            <a:ext cx="8257590" cy="1089593"/>
            <a:chOff x="0" y="0"/>
            <a:chExt cx="538081" cy="71000"/>
          </a:xfrm>
        </p:grpSpPr>
        <p:sp>
          <p:nvSpPr>
            <p:cNvPr name="Freeform 88" id="88"/>
            <p:cNvSpPr/>
            <p:nvPr/>
          </p:nvSpPr>
          <p:spPr>
            <a:xfrm flipH="false" flipV="false" rot="0">
              <a:off x="0" y="0"/>
              <a:ext cx="538081" cy="71000"/>
            </a:xfrm>
            <a:custGeom>
              <a:avLst/>
              <a:gdLst/>
              <a:ahLst/>
              <a:cxnLst/>
              <a:rect r="r" b="b" t="t" l="l"/>
              <a:pathLst>
                <a:path h="71000" w="538081">
                  <a:moveTo>
                    <a:pt x="35500" y="0"/>
                  </a:moveTo>
                  <a:lnTo>
                    <a:pt x="502581" y="0"/>
                  </a:lnTo>
                  <a:cubicBezTo>
                    <a:pt x="511996" y="0"/>
                    <a:pt x="521026" y="3740"/>
                    <a:pt x="527683" y="10398"/>
                  </a:cubicBezTo>
                  <a:cubicBezTo>
                    <a:pt x="534341" y="17055"/>
                    <a:pt x="538081" y="26085"/>
                    <a:pt x="538081" y="35500"/>
                  </a:cubicBezTo>
                  <a:lnTo>
                    <a:pt x="538081" y="35500"/>
                  </a:lnTo>
                  <a:cubicBezTo>
                    <a:pt x="538081" y="55106"/>
                    <a:pt x="522187" y="71000"/>
                    <a:pt x="502581" y="71000"/>
                  </a:cubicBezTo>
                  <a:lnTo>
                    <a:pt x="35500" y="71000"/>
                  </a:lnTo>
                  <a:cubicBezTo>
                    <a:pt x="26085" y="71000"/>
                    <a:pt x="17055" y="67260"/>
                    <a:pt x="10398" y="60602"/>
                  </a:cubicBezTo>
                  <a:cubicBezTo>
                    <a:pt x="3740" y="53945"/>
                    <a:pt x="0" y="44915"/>
                    <a:pt x="0" y="35500"/>
                  </a:cubicBezTo>
                  <a:lnTo>
                    <a:pt x="0" y="35500"/>
                  </a:lnTo>
                  <a:cubicBezTo>
                    <a:pt x="0" y="26085"/>
                    <a:pt x="3740" y="17055"/>
                    <a:pt x="10398" y="10398"/>
                  </a:cubicBezTo>
                  <a:cubicBezTo>
                    <a:pt x="17055" y="3740"/>
                    <a:pt x="26085" y="0"/>
                    <a:pt x="35500" y="0"/>
                  </a:cubicBezTo>
                  <a:close/>
                </a:path>
              </a:pathLst>
            </a:custGeom>
            <a:solidFill>
              <a:srgbClr val="FF7A46"/>
            </a:solidFill>
          </p:spPr>
        </p:sp>
        <p:sp>
          <p:nvSpPr>
            <p:cNvPr name="TextBox 89" id="89"/>
            <p:cNvSpPr txBox="true"/>
            <p:nvPr/>
          </p:nvSpPr>
          <p:spPr>
            <a:xfrm>
              <a:off x="0" y="-47625"/>
              <a:ext cx="538081" cy="118625"/>
            </a:xfrm>
            <a:prstGeom prst="rect">
              <a:avLst/>
            </a:prstGeom>
          </p:spPr>
          <p:txBody>
            <a:bodyPr anchor="ctr" rtlCol="false" tIns="50800" lIns="50800" bIns="50800" rIns="50800"/>
            <a:lstStyle/>
            <a:p>
              <a:pPr algn="ctr">
                <a:lnSpc>
                  <a:spcPts val="2763"/>
                </a:lnSpc>
              </a:pPr>
            </a:p>
          </p:txBody>
        </p:sp>
      </p:grpSp>
      <p:sp>
        <p:nvSpPr>
          <p:cNvPr name="TextBox 90" id="90"/>
          <p:cNvSpPr txBox="true"/>
          <p:nvPr/>
        </p:nvSpPr>
        <p:spPr>
          <a:xfrm rot="0">
            <a:off x="9701333" y="8854612"/>
            <a:ext cx="6626543" cy="503936"/>
          </a:xfrm>
          <a:prstGeom prst="rect">
            <a:avLst/>
          </a:prstGeom>
        </p:spPr>
        <p:txBody>
          <a:bodyPr anchor="t" rtlCol="false" tIns="0" lIns="0" bIns="0" rIns="0">
            <a:spAutoFit/>
          </a:bodyPr>
          <a:lstStyle/>
          <a:p>
            <a:pPr algn="l" marL="0" indent="0" lvl="1">
              <a:lnSpc>
                <a:spcPts val="3990"/>
              </a:lnSpc>
            </a:pPr>
            <a:r>
              <a:rPr lang="en-US" b="true" sz="3069">
                <a:solidFill>
                  <a:srgbClr val="000000"/>
                </a:solidFill>
                <a:latin typeface="Roboto Bold"/>
                <a:ea typeface="Roboto Bold"/>
                <a:cs typeface="Roboto Bold"/>
                <a:sym typeface="Roboto Bold"/>
              </a:rPr>
              <a:t>Admin verification of new stations.</a:t>
            </a:r>
          </a:p>
        </p:txBody>
      </p:sp>
      <p:sp>
        <p:nvSpPr>
          <p:cNvPr name="AutoShape 91" id="91"/>
          <p:cNvSpPr/>
          <p:nvPr/>
        </p:nvSpPr>
        <p:spPr>
          <a:xfrm flipV="true">
            <a:off x="9124950" y="2961081"/>
            <a:ext cx="0" cy="6851433"/>
          </a:xfrm>
          <a:prstGeom prst="line">
            <a:avLst/>
          </a:prstGeom>
          <a:ln cap="flat" w="38100">
            <a:solidFill>
              <a:srgbClr val="000000"/>
            </a:solidFill>
            <a:prstDash val="sysDash"/>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sp>
        <p:nvSpPr>
          <p:cNvPr name="Freeform 7" id="7"/>
          <p:cNvSpPr/>
          <p:nvPr/>
        </p:nvSpPr>
        <p:spPr>
          <a:xfrm flipH="false" flipV="false" rot="0">
            <a:off x="1028700" y="2512908"/>
            <a:ext cx="16740470" cy="7784319"/>
          </a:xfrm>
          <a:custGeom>
            <a:avLst/>
            <a:gdLst/>
            <a:ahLst/>
            <a:cxnLst/>
            <a:rect r="r" b="b" t="t" l="l"/>
            <a:pathLst>
              <a:path h="7784319" w="16740470">
                <a:moveTo>
                  <a:pt x="0" y="0"/>
                </a:moveTo>
                <a:lnTo>
                  <a:pt x="16740470" y="0"/>
                </a:lnTo>
                <a:lnTo>
                  <a:pt x="16740470" y="7784319"/>
                </a:lnTo>
                <a:lnTo>
                  <a:pt x="0" y="7784319"/>
                </a:lnTo>
                <a:lnTo>
                  <a:pt x="0" y="0"/>
                </a:lnTo>
                <a:close/>
              </a:path>
            </a:pathLst>
          </a:custGeom>
          <a:blipFill>
            <a:blip r:embed="rId3"/>
            <a:stretch>
              <a:fillRect l="0" t="0" r="0" b="0"/>
            </a:stretch>
          </a:blipFill>
        </p:spPr>
      </p:sp>
      <p:grpSp>
        <p:nvGrpSpPr>
          <p:cNvPr name="Group 8" id="8"/>
          <p:cNvGrpSpPr/>
          <p:nvPr/>
        </p:nvGrpSpPr>
        <p:grpSpPr>
          <a:xfrm rot="0">
            <a:off x="0" y="10117246"/>
            <a:ext cx="18288000" cy="179981"/>
            <a:chOff x="0" y="0"/>
            <a:chExt cx="24384000" cy="239974"/>
          </a:xfrm>
        </p:grpSpPr>
        <p:sp>
          <p:nvSpPr>
            <p:cNvPr name="Freeform 9" id="9"/>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grpSp>
        <p:nvGrpSpPr>
          <p:cNvPr name="Group 10" id="10"/>
          <p:cNvGrpSpPr/>
          <p:nvPr/>
        </p:nvGrpSpPr>
        <p:grpSpPr>
          <a:xfrm rot="0">
            <a:off x="16429444" y="4387075"/>
            <a:ext cx="291174" cy="2017993"/>
            <a:chOff x="0" y="0"/>
            <a:chExt cx="76688" cy="531488"/>
          </a:xfrm>
        </p:grpSpPr>
        <p:sp>
          <p:nvSpPr>
            <p:cNvPr name="Freeform 11" id="11"/>
            <p:cNvSpPr/>
            <p:nvPr/>
          </p:nvSpPr>
          <p:spPr>
            <a:xfrm flipH="false" flipV="false" rot="0">
              <a:off x="0" y="0"/>
              <a:ext cx="76688" cy="531488"/>
            </a:xfrm>
            <a:custGeom>
              <a:avLst/>
              <a:gdLst/>
              <a:ahLst/>
              <a:cxnLst/>
              <a:rect r="r" b="b" t="t" l="l"/>
              <a:pathLst>
                <a:path h="531488" w="76688">
                  <a:moveTo>
                    <a:pt x="0" y="0"/>
                  </a:moveTo>
                  <a:lnTo>
                    <a:pt x="76688" y="0"/>
                  </a:lnTo>
                  <a:lnTo>
                    <a:pt x="76688" y="531488"/>
                  </a:lnTo>
                  <a:lnTo>
                    <a:pt x="0" y="531488"/>
                  </a:lnTo>
                  <a:close/>
                </a:path>
              </a:pathLst>
            </a:custGeom>
            <a:gradFill rotWithShape="true">
              <a:gsLst>
                <a:gs pos="0">
                  <a:srgbClr val="5EE463">
                    <a:alpha val="100000"/>
                  </a:srgbClr>
                </a:gs>
                <a:gs pos="100000">
                  <a:srgbClr val="FAE0D3">
                    <a:alpha val="100000"/>
                  </a:srgbClr>
                </a:gs>
              </a:gsLst>
              <a:lin ang="5400000"/>
            </a:gradFill>
          </p:spPr>
        </p:sp>
        <p:sp>
          <p:nvSpPr>
            <p:cNvPr name="TextBox 12" id="12"/>
            <p:cNvSpPr txBox="true"/>
            <p:nvPr/>
          </p:nvSpPr>
          <p:spPr>
            <a:xfrm>
              <a:off x="0" y="-47625"/>
              <a:ext cx="76688" cy="579113"/>
            </a:xfrm>
            <a:prstGeom prst="rect">
              <a:avLst/>
            </a:prstGeom>
          </p:spPr>
          <p:txBody>
            <a:bodyPr anchor="ctr" rtlCol="false" tIns="50800" lIns="50800" bIns="50800" rIns="50800"/>
            <a:lstStyle/>
            <a:p>
              <a:pPr algn="ctr">
                <a:lnSpc>
                  <a:spcPts val="2763"/>
                </a:lnSpc>
              </a:pPr>
            </a:p>
          </p:txBody>
        </p:sp>
      </p:grpSp>
      <p:sp>
        <p:nvSpPr>
          <p:cNvPr name="TextBox 13" id="13"/>
          <p:cNvSpPr txBox="true"/>
          <p:nvPr/>
        </p:nvSpPr>
        <p:spPr>
          <a:xfrm rot="0">
            <a:off x="5033469" y="1414226"/>
            <a:ext cx="9022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Expec</a:t>
            </a:r>
            <a:r>
              <a:rPr lang="en-US" b="true" sz="5000">
                <a:solidFill>
                  <a:srgbClr val="000000"/>
                </a:solidFill>
                <a:latin typeface="Times New Roman Bold"/>
                <a:ea typeface="Times New Roman Bold"/>
                <a:cs typeface="Times New Roman Bold"/>
                <a:sym typeface="Times New Roman Bold"/>
              </a:rPr>
              <a:t>ted Outcomes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AutoShape 9" id="9"/>
          <p:cNvSpPr/>
          <p:nvPr/>
        </p:nvSpPr>
        <p:spPr>
          <a:xfrm flipV="true">
            <a:off x="9849329" y="2954303"/>
            <a:ext cx="0" cy="6492240"/>
          </a:xfrm>
          <a:prstGeom prst="line">
            <a:avLst/>
          </a:prstGeom>
          <a:ln cap="flat" w="38100">
            <a:solidFill>
              <a:srgbClr val="000000"/>
            </a:solidFill>
            <a:prstDash val="solid"/>
            <a:headEnd type="none" len="sm" w="sm"/>
            <a:tailEnd type="none" len="sm" w="sm"/>
          </a:ln>
        </p:spPr>
      </p:sp>
      <p:sp>
        <p:nvSpPr>
          <p:cNvPr name="Freeform 10" id="10"/>
          <p:cNvSpPr/>
          <p:nvPr/>
        </p:nvSpPr>
        <p:spPr>
          <a:xfrm flipH="false" flipV="false" rot="0">
            <a:off x="649309" y="4281861"/>
            <a:ext cx="503274" cy="373052"/>
          </a:xfrm>
          <a:custGeom>
            <a:avLst/>
            <a:gdLst/>
            <a:ahLst/>
            <a:cxnLst/>
            <a:rect r="r" b="b" t="t" l="l"/>
            <a:pathLst>
              <a:path h="373052" w="503274">
                <a:moveTo>
                  <a:pt x="0" y="0"/>
                </a:moveTo>
                <a:lnTo>
                  <a:pt x="503274" y="0"/>
                </a:lnTo>
                <a:lnTo>
                  <a:pt x="503274" y="373052"/>
                </a:lnTo>
                <a:lnTo>
                  <a:pt x="0" y="3730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649309" y="5064488"/>
            <a:ext cx="493327" cy="467647"/>
          </a:xfrm>
          <a:custGeom>
            <a:avLst/>
            <a:gdLst/>
            <a:ahLst/>
            <a:cxnLst/>
            <a:rect r="r" b="b" t="t" l="l"/>
            <a:pathLst>
              <a:path h="467647" w="493327">
                <a:moveTo>
                  <a:pt x="0" y="0"/>
                </a:moveTo>
                <a:lnTo>
                  <a:pt x="493327" y="0"/>
                </a:lnTo>
                <a:lnTo>
                  <a:pt x="493327" y="467647"/>
                </a:lnTo>
                <a:lnTo>
                  <a:pt x="0" y="4676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49309" y="5865818"/>
            <a:ext cx="513221" cy="516449"/>
          </a:xfrm>
          <a:custGeom>
            <a:avLst/>
            <a:gdLst/>
            <a:ahLst/>
            <a:cxnLst/>
            <a:rect r="r" b="b" t="t" l="l"/>
            <a:pathLst>
              <a:path h="516449" w="513221">
                <a:moveTo>
                  <a:pt x="0" y="0"/>
                </a:moveTo>
                <a:lnTo>
                  <a:pt x="513221" y="0"/>
                </a:lnTo>
                <a:lnTo>
                  <a:pt x="513221" y="516448"/>
                </a:lnTo>
                <a:lnTo>
                  <a:pt x="0" y="5164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694954" y="6633432"/>
            <a:ext cx="494244" cy="494244"/>
          </a:xfrm>
          <a:custGeom>
            <a:avLst/>
            <a:gdLst/>
            <a:ahLst/>
            <a:cxnLst/>
            <a:rect r="r" b="b" t="t" l="l"/>
            <a:pathLst>
              <a:path h="494244" w="494244">
                <a:moveTo>
                  <a:pt x="0" y="0"/>
                </a:moveTo>
                <a:lnTo>
                  <a:pt x="494244" y="0"/>
                </a:lnTo>
                <a:lnTo>
                  <a:pt x="494244" y="494244"/>
                </a:lnTo>
                <a:lnTo>
                  <a:pt x="0" y="4942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0296495" y="6295105"/>
            <a:ext cx="676655" cy="676655"/>
          </a:xfrm>
          <a:custGeom>
            <a:avLst/>
            <a:gdLst/>
            <a:ahLst/>
            <a:cxnLst/>
            <a:rect r="r" b="b" t="t" l="l"/>
            <a:pathLst>
              <a:path h="676655" w="676655">
                <a:moveTo>
                  <a:pt x="0" y="0"/>
                </a:moveTo>
                <a:lnTo>
                  <a:pt x="676655" y="0"/>
                </a:lnTo>
                <a:lnTo>
                  <a:pt x="676655" y="676655"/>
                </a:lnTo>
                <a:lnTo>
                  <a:pt x="0" y="67665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0296495" y="7200460"/>
            <a:ext cx="676655" cy="676655"/>
          </a:xfrm>
          <a:custGeom>
            <a:avLst/>
            <a:gdLst/>
            <a:ahLst/>
            <a:cxnLst/>
            <a:rect r="r" b="b" t="t" l="l"/>
            <a:pathLst>
              <a:path h="676655" w="676655">
                <a:moveTo>
                  <a:pt x="0" y="0"/>
                </a:moveTo>
                <a:lnTo>
                  <a:pt x="676655" y="0"/>
                </a:lnTo>
                <a:lnTo>
                  <a:pt x="676655" y="676655"/>
                </a:lnTo>
                <a:lnTo>
                  <a:pt x="0" y="67665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10296495" y="8105715"/>
            <a:ext cx="676655" cy="676655"/>
          </a:xfrm>
          <a:custGeom>
            <a:avLst/>
            <a:gdLst/>
            <a:ahLst/>
            <a:cxnLst/>
            <a:rect r="r" b="b" t="t" l="l"/>
            <a:pathLst>
              <a:path h="676655" w="676655">
                <a:moveTo>
                  <a:pt x="0" y="0"/>
                </a:moveTo>
                <a:lnTo>
                  <a:pt x="676655" y="0"/>
                </a:lnTo>
                <a:lnTo>
                  <a:pt x="676655" y="676655"/>
                </a:lnTo>
                <a:lnTo>
                  <a:pt x="0" y="6766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7" id="17"/>
          <p:cNvSpPr txBox="true"/>
          <p:nvPr/>
        </p:nvSpPr>
        <p:spPr>
          <a:xfrm rot="0">
            <a:off x="3985719"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Tools &amp; Technologi</a:t>
            </a:r>
            <a:r>
              <a:rPr lang="en-US" b="true" sz="5000">
                <a:solidFill>
                  <a:srgbClr val="000000"/>
                </a:solidFill>
                <a:latin typeface="Times New Roman Bold"/>
                <a:ea typeface="Times New Roman Bold"/>
                <a:cs typeface="Times New Roman Bold"/>
                <a:sym typeface="Times New Roman Bold"/>
              </a:rPr>
              <a:t>es / Domain / SDG</a:t>
            </a:r>
          </a:p>
        </p:txBody>
      </p:sp>
      <p:sp>
        <p:nvSpPr>
          <p:cNvPr name="TextBox 18" id="18"/>
          <p:cNvSpPr txBox="true"/>
          <p:nvPr/>
        </p:nvSpPr>
        <p:spPr>
          <a:xfrm rot="0">
            <a:off x="1474948" y="4227655"/>
            <a:ext cx="6937407" cy="370107"/>
          </a:xfrm>
          <a:prstGeom prst="rect">
            <a:avLst/>
          </a:prstGeom>
        </p:spPr>
        <p:txBody>
          <a:bodyPr anchor="t" rtlCol="false" tIns="0" lIns="0" bIns="0" rIns="0">
            <a:spAutoFit/>
          </a:bodyPr>
          <a:lstStyle/>
          <a:p>
            <a:pPr algn="ctr">
              <a:lnSpc>
                <a:spcPts val="3082"/>
              </a:lnSpc>
            </a:pPr>
            <a:r>
              <a:rPr lang="en-US" sz="2201" b="true">
                <a:solidFill>
                  <a:srgbClr val="000000"/>
                </a:solidFill>
                <a:latin typeface="Canva Sans Bold"/>
                <a:ea typeface="Canva Sans Bold"/>
                <a:cs typeface="Canva Sans Bold"/>
                <a:sym typeface="Canva Sans Bold"/>
              </a:rPr>
              <a:t>Fronten</a:t>
            </a:r>
            <a:r>
              <a:rPr lang="en-US" b="true" sz="2201">
                <a:solidFill>
                  <a:srgbClr val="000000"/>
                </a:solidFill>
                <a:latin typeface="Canva Sans Bold"/>
                <a:ea typeface="Canva Sans Bold"/>
                <a:cs typeface="Canva Sans Bold"/>
                <a:sym typeface="Canva Sans Bold"/>
              </a:rPr>
              <a:t>d: </a:t>
            </a:r>
            <a:r>
              <a:rPr lang="en-US" sz="2201">
                <a:solidFill>
                  <a:srgbClr val="000000"/>
                </a:solidFill>
                <a:latin typeface="Canva Sans"/>
                <a:ea typeface="Canva Sans"/>
                <a:cs typeface="Canva Sans"/>
                <a:sym typeface="Canva Sans"/>
              </a:rPr>
              <a:t>React Native (cross-platform mobile app)</a:t>
            </a:r>
          </a:p>
        </p:txBody>
      </p:sp>
      <p:sp>
        <p:nvSpPr>
          <p:cNvPr name="TextBox 19" id="19"/>
          <p:cNvSpPr txBox="true"/>
          <p:nvPr/>
        </p:nvSpPr>
        <p:spPr>
          <a:xfrm rot="0">
            <a:off x="1474948" y="5026388"/>
            <a:ext cx="5884426" cy="372705"/>
          </a:xfrm>
          <a:prstGeom prst="rect">
            <a:avLst/>
          </a:prstGeom>
        </p:spPr>
        <p:txBody>
          <a:bodyPr anchor="t" rtlCol="false" tIns="0" lIns="0" bIns="0" rIns="0">
            <a:spAutoFit/>
          </a:bodyPr>
          <a:lstStyle/>
          <a:p>
            <a:pPr algn="l">
              <a:lnSpc>
                <a:spcPts val="3082"/>
              </a:lnSpc>
            </a:pPr>
            <a:r>
              <a:rPr lang="en-US" sz="2201" b="true">
                <a:solidFill>
                  <a:srgbClr val="000000"/>
                </a:solidFill>
                <a:latin typeface="Canva Sans Bold"/>
                <a:ea typeface="Canva Sans Bold"/>
                <a:cs typeface="Canva Sans Bold"/>
                <a:sym typeface="Canva Sans Bold"/>
              </a:rPr>
              <a:t>Backen</a:t>
            </a:r>
            <a:r>
              <a:rPr lang="en-US" b="true" sz="2201">
                <a:solidFill>
                  <a:srgbClr val="000000"/>
                </a:solidFill>
                <a:latin typeface="Canva Sans Bold"/>
                <a:ea typeface="Canva Sans Bold"/>
                <a:cs typeface="Canva Sans Bold"/>
                <a:sym typeface="Canva Sans Bold"/>
              </a:rPr>
              <a:t>d:</a:t>
            </a:r>
            <a:r>
              <a:rPr lang="en-US" sz="2201">
                <a:solidFill>
                  <a:srgbClr val="000000"/>
                </a:solidFill>
                <a:latin typeface="Canva Sans"/>
                <a:ea typeface="Canva Sans"/>
                <a:cs typeface="Canva Sans"/>
                <a:sym typeface="Canva Sans"/>
              </a:rPr>
              <a:t> Firebase (Auth, Firestore, Storage)</a:t>
            </a:r>
          </a:p>
        </p:txBody>
      </p:sp>
      <p:sp>
        <p:nvSpPr>
          <p:cNvPr name="TextBox 20" id="20"/>
          <p:cNvSpPr txBox="true"/>
          <p:nvPr/>
        </p:nvSpPr>
        <p:spPr>
          <a:xfrm rot="0">
            <a:off x="1474948" y="5827718"/>
            <a:ext cx="6696194" cy="372705"/>
          </a:xfrm>
          <a:prstGeom prst="rect">
            <a:avLst/>
          </a:prstGeom>
        </p:spPr>
        <p:txBody>
          <a:bodyPr anchor="t" rtlCol="false" tIns="0" lIns="0" bIns="0" rIns="0">
            <a:spAutoFit/>
          </a:bodyPr>
          <a:lstStyle/>
          <a:p>
            <a:pPr algn="l">
              <a:lnSpc>
                <a:spcPts val="3082"/>
              </a:lnSpc>
            </a:pPr>
            <a:r>
              <a:rPr lang="en-US" sz="2201" b="true">
                <a:solidFill>
                  <a:srgbClr val="000000"/>
                </a:solidFill>
                <a:latin typeface="Canva Sans Bold"/>
                <a:ea typeface="Canva Sans Bold"/>
                <a:cs typeface="Canva Sans Bold"/>
                <a:sym typeface="Canva Sans Bold"/>
              </a:rPr>
              <a:t>Maps &amp; Routing</a:t>
            </a:r>
            <a:r>
              <a:rPr lang="en-US" b="true" sz="2201">
                <a:solidFill>
                  <a:srgbClr val="000000"/>
                </a:solidFill>
                <a:latin typeface="Canva Sans Bold"/>
                <a:ea typeface="Canva Sans Bold"/>
                <a:cs typeface="Canva Sans Bold"/>
                <a:sym typeface="Canva Sans Bold"/>
              </a:rPr>
              <a:t>:</a:t>
            </a:r>
            <a:r>
              <a:rPr lang="en-US" sz="2201">
                <a:solidFill>
                  <a:srgbClr val="000000"/>
                </a:solidFill>
                <a:latin typeface="Canva Sans"/>
                <a:ea typeface="Canva Sans"/>
                <a:cs typeface="Canva Sans"/>
                <a:sym typeface="Canva Sans"/>
              </a:rPr>
              <a:t> Google Maps SDK, Directions API</a:t>
            </a:r>
          </a:p>
        </p:txBody>
      </p:sp>
      <p:sp>
        <p:nvSpPr>
          <p:cNvPr name="TextBox 21" id="21"/>
          <p:cNvSpPr txBox="true"/>
          <p:nvPr/>
        </p:nvSpPr>
        <p:spPr>
          <a:xfrm rot="0">
            <a:off x="1474948" y="6629048"/>
            <a:ext cx="8073747" cy="372705"/>
          </a:xfrm>
          <a:prstGeom prst="rect">
            <a:avLst/>
          </a:prstGeom>
        </p:spPr>
        <p:txBody>
          <a:bodyPr anchor="t" rtlCol="false" tIns="0" lIns="0" bIns="0" rIns="0">
            <a:spAutoFit/>
          </a:bodyPr>
          <a:lstStyle/>
          <a:p>
            <a:pPr algn="l">
              <a:lnSpc>
                <a:spcPts val="3082"/>
              </a:lnSpc>
            </a:pPr>
            <a:r>
              <a:rPr lang="en-US" sz="2201" b="true">
                <a:solidFill>
                  <a:srgbClr val="000000"/>
                </a:solidFill>
                <a:latin typeface="Canva Sans Bold"/>
                <a:ea typeface="Canva Sans Bold"/>
                <a:cs typeface="Canva Sans Bold"/>
                <a:sym typeface="Canva Sans Bold"/>
              </a:rPr>
              <a:t>Other Tech: </a:t>
            </a:r>
            <a:r>
              <a:rPr lang="en-US" sz="2201">
                <a:solidFill>
                  <a:srgbClr val="000000"/>
                </a:solidFill>
                <a:latin typeface="Canva Sans"/>
                <a:ea typeface="Canva Sans"/>
                <a:cs typeface="Canva Sans"/>
                <a:sym typeface="Canva Sans"/>
              </a:rPr>
              <a:t>Expo, React-Nativ</a:t>
            </a:r>
            <a:r>
              <a:rPr lang="en-US" sz="2201">
                <a:solidFill>
                  <a:srgbClr val="000000"/>
                </a:solidFill>
                <a:latin typeface="Canva Sans"/>
                <a:ea typeface="Canva Sans"/>
                <a:cs typeface="Canva Sans"/>
                <a:sym typeface="Canva Sans"/>
              </a:rPr>
              <a:t>e-Maps, Geo-location services</a:t>
            </a:r>
          </a:p>
        </p:txBody>
      </p:sp>
      <p:sp>
        <p:nvSpPr>
          <p:cNvPr name="TextBox 22" id="22"/>
          <p:cNvSpPr txBox="true"/>
          <p:nvPr/>
        </p:nvSpPr>
        <p:spPr>
          <a:xfrm rot="0">
            <a:off x="10192229" y="3333157"/>
            <a:ext cx="1561841" cy="465873"/>
          </a:xfrm>
          <a:prstGeom prst="rect">
            <a:avLst/>
          </a:prstGeom>
        </p:spPr>
        <p:txBody>
          <a:bodyPr anchor="t" rtlCol="false" tIns="0" lIns="0" bIns="0" rIns="0">
            <a:spAutoFit/>
          </a:bodyPr>
          <a:lstStyle/>
          <a:p>
            <a:pPr algn="ctr">
              <a:lnSpc>
                <a:spcPts val="3757"/>
              </a:lnSpc>
            </a:pPr>
            <a:r>
              <a:rPr lang="en-US" sz="2684" b="true">
                <a:solidFill>
                  <a:srgbClr val="000000"/>
                </a:solidFill>
                <a:latin typeface="Canva Sans Bold"/>
                <a:ea typeface="Canva Sans Bold"/>
                <a:cs typeface="Canva Sans Bold"/>
                <a:sym typeface="Canva Sans Bold"/>
              </a:rPr>
              <a:t>Dom</a:t>
            </a:r>
            <a:r>
              <a:rPr lang="en-US" b="true" sz="2684">
                <a:solidFill>
                  <a:srgbClr val="000000"/>
                </a:solidFill>
                <a:latin typeface="Canva Sans Bold"/>
                <a:ea typeface="Canva Sans Bold"/>
                <a:cs typeface="Canva Sans Bold"/>
                <a:sym typeface="Canva Sans Bold"/>
              </a:rPr>
              <a:t>ains:</a:t>
            </a:r>
          </a:p>
        </p:txBody>
      </p:sp>
      <p:sp>
        <p:nvSpPr>
          <p:cNvPr name="TextBox 23" id="23"/>
          <p:cNvSpPr txBox="true"/>
          <p:nvPr/>
        </p:nvSpPr>
        <p:spPr>
          <a:xfrm rot="0">
            <a:off x="2956823" y="3333157"/>
            <a:ext cx="3548158" cy="465873"/>
          </a:xfrm>
          <a:prstGeom prst="rect">
            <a:avLst/>
          </a:prstGeom>
        </p:spPr>
        <p:txBody>
          <a:bodyPr anchor="t" rtlCol="false" tIns="0" lIns="0" bIns="0" rIns="0">
            <a:spAutoFit/>
          </a:bodyPr>
          <a:lstStyle/>
          <a:p>
            <a:pPr algn="ctr">
              <a:lnSpc>
                <a:spcPts val="3757"/>
              </a:lnSpc>
            </a:pPr>
            <a:r>
              <a:rPr lang="en-US" sz="2684" b="true">
                <a:solidFill>
                  <a:srgbClr val="000000"/>
                </a:solidFill>
                <a:latin typeface="Canva Sans Bold"/>
                <a:ea typeface="Canva Sans Bold"/>
                <a:cs typeface="Canva Sans Bold"/>
                <a:sym typeface="Canva Sans Bold"/>
              </a:rPr>
              <a:t>Tools &amp; Tech</a:t>
            </a:r>
            <a:r>
              <a:rPr lang="en-US" b="true" sz="2684">
                <a:solidFill>
                  <a:srgbClr val="000000"/>
                </a:solidFill>
                <a:latin typeface="Canva Sans Bold"/>
                <a:ea typeface="Canva Sans Bold"/>
                <a:cs typeface="Canva Sans Bold"/>
                <a:sym typeface="Canva Sans Bold"/>
              </a:rPr>
              <a:t>nologies:</a:t>
            </a:r>
          </a:p>
        </p:txBody>
      </p:sp>
      <p:sp>
        <p:nvSpPr>
          <p:cNvPr name="TextBox 24" id="24"/>
          <p:cNvSpPr txBox="true"/>
          <p:nvPr/>
        </p:nvSpPr>
        <p:spPr>
          <a:xfrm rot="0">
            <a:off x="10192229" y="4197098"/>
            <a:ext cx="7929783" cy="763230"/>
          </a:xfrm>
          <a:prstGeom prst="rect">
            <a:avLst/>
          </a:prstGeom>
        </p:spPr>
        <p:txBody>
          <a:bodyPr anchor="t" rtlCol="false" tIns="0" lIns="0" bIns="0" rIns="0">
            <a:spAutoFit/>
          </a:bodyPr>
          <a:lstStyle/>
          <a:p>
            <a:pPr algn="l">
              <a:lnSpc>
                <a:spcPts val="3082"/>
              </a:lnSpc>
            </a:pPr>
            <a:r>
              <a:rPr lang="en-US" sz="2201">
                <a:solidFill>
                  <a:srgbClr val="000000"/>
                </a:solidFill>
                <a:latin typeface="Canva Sans"/>
                <a:ea typeface="Canva Sans"/>
                <a:cs typeface="Canva Sans"/>
                <a:sym typeface="Canva Sans"/>
              </a:rPr>
              <a:t>Electric Mobility,</a:t>
            </a:r>
            <a:r>
              <a:rPr lang="en-US" sz="2201">
                <a:solidFill>
                  <a:srgbClr val="000000"/>
                </a:solidFill>
                <a:latin typeface="Canva Sans"/>
                <a:ea typeface="Canva Sans"/>
                <a:cs typeface="Canva Sans"/>
                <a:sym typeface="Canva Sans"/>
              </a:rPr>
              <a:t> Real-Time Navigation, Mobile Computing, Cloud-Based Systems.</a:t>
            </a:r>
          </a:p>
        </p:txBody>
      </p:sp>
      <p:sp>
        <p:nvSpPr>
          <p:cNvPr name="TextBox 25" id="25"/>
          <p:cNvSpPr txBox="true"/>
          <p:nvPr/>
        </p:nvSpPr>
        <p:spPr>
          <a:xfrm rot="0">
            <a:off x="10192229" y="5399945"/>
            <a:ext cx="2331576" cy="465873"/>
          </a:xfrm>
          <a:prstGeom prst="rect">
            <a:avLst/>
          </a:prstGeom>
        </p:spPr>
        <p:txBody>
          <a:bodyPr anchor="t" rtlCol="false" tIns="0" lIns="0" bIns="0" rIns="0">
            <a:spAutoFit/>
          </a:bodyPr>
          <a:lstStyle/>
          <a:p>
            <a:pPr algn="ctr">
              <a:lnSpc>
                <a:spcPts val="3757"/>
              </a:lnSpc>
            </a:pPr>
            <a:r>
              <a:rPr lang="en-US" sz="2684" b="true">
                <a:solidFill>
                  <a:srgbClr val="000000"/>
                </a:solidFill>
                <a:latin typeface="Canva Sans Bold"/>
                <a:ea typeface="Canva Sans Bold"/>
                <a:cs typeface="Canva Sans Bold"/>
                <a:sym typeface="Canva Sans Bold"/>
              </a:rPr>
              <a:t>Al</a:t>
            </a:r>
            <a:r>
              <a:rPr lang="en-US" b="true" sz="2684">
                <a:solidFill>
                  <a:srgbClr val="000000"/>
                </a:solidFill>
                <a:latin typeface="Canva Sans Bold"/>
                <a:ea typeface="Canva Sans Bold"/>
                <a:cs typeface="Canva Sans Bold"/>
                <a:sym typeface="Canva Sans Bold"/>
              </a:rPr>
              <a:t>igned SDGs:</a:t>
            </a:r>
          </a:p>
        </p:txBody>
      </p:sp>
      <p:sp>
        <p:nvSpPr>
          <p:cNvPr name="TextBox 26" id="26"/>
          <p:cNvSpPr txBox="true"/>
          <p:nvPr/>
        </p:nvSpPr>
        <p:spPr>
          <a:xfrm rot="0">
            <a:off x="11258900" y="6427911"/>
            <a:ext cx="4940092" cy="372705"/>
          </a:xfrm>
          <a:prstGeom prst="rect">
            <a:avLst/>
          </a:prstGeom>
        </p:spPr>
        <p:txBody>
          <a:bodyPr anchor="t" rtlCol="false" tIns="0" lIns="0" bIns="0" rIns="0">
            <a:spAutoFit/>
          </a:bodyPr>
          <a:lstStyle/>
          <a:p>
            <a:pPr algn="l">
              <a:lnSpc>
                <a:spcPts val="3082"/>
              </a:lnSpc>
            </a:pPr>
            <a:r>
              <a:rPr lang="en-US" sz="2201">
                <a:solidFill>
                  <a:srgbClr val="000000"/>
                </a:solidFill>
                <a:latin typeface="Canva Sans"/>
                <a:ea typeface="Canva Sans"/>
                <a:cs typeface="Canva Sans"/>
                <a:sym typeface="Canva Sans"/>
              </a:rPr>
              <a:t>SDG</a:t>
            </a:r>
            <a:r>
              <a:rPr lang="en-US" sz="2201">
                <a:solidFill>
                  <a:srgbClr val="000000"/>
                </a:solidFill>
                <a:latin typeface="Canva Sans"/>
                <a:ea typeface="Canva Sans"/>
                <a:cs typeface="Canva Sans"/>
                <a:sym typeface="Canva Sans"/>
              </a:rPr>
              <a:t> 7 – Affordable &amp; Clean Energy</a:t>
            </a:r>
          </a:p>
        </p:txBody>
      </p:sp>
      <p:sp>
        <p:nvSpPr>
          <p:cNvPr name="TextBox 27" id="27"/>
          <p:cNvSpPr txBox="true"/>
          <p:nvPr/>
        </p:nvSpPr>
        <p:spPr>
          <a:xfrm rot="0">
            <a:off x="11258900" y="7362591"/>
            <a:ext cx="6181964" cy="372705"/>
          </a:xfrm>
          <a:prstGeom prst="rect">
            <a:avLst/>
          </a:prstGeom>
        </p:spPr>
        <p:txBody>
          <a:bodyPr anchor="t" rtlCol="false" tIns="0" lIns="0" bIns="0" rIns="0">
            <a:spAutoFit/>
          </a:bodyPr>
          <a:lstStyle/>
          <a:p>
            <a:pPr algn="l">
              <a:lnSpc>
                <a:spcPts val="3082"/>
              </a:lnSpc>
            </a:pPr>
            <a:r>
              <a:rPr lang="en-US" sz="2201">
                <a:solidFill>
                  <a:srgbClr val="000000"/>
                </a:solidFill>
                <a:latin typeface="Canva Sans"/>
                <a:ea typeface="Canva Sans"/>
                <a:cs typeface="Canva Sans"/>
                <a:sym typeface="Canva Sans"/>
              </a:rPr>
              <a:t>SDG 9 – Industry,</a:t>
            </a:r>
            <a:r>
              <a:rPr lang="en-US" sz="2201">
                <a:solidFill>
                  <a:srgbClr val="000000"/>
                </a:solidFill>
                <a:latin typeface="Canva Sans"/>
                <a:ea typeface="Canva Sans"/>
                <a:cs typeface="Canva Sans"/>
                <a:sym typeface="Canva Sans"/>
              </a:rPr>
              <a:t> Innovation &amp; Infrastructure</a:t>
            </a:r>
          </a:p>
        </p:txBody>
      </p:sp>
      <p:sp>
        <p:nvSpPr>
          <p:cNvPr name="TextBox 28" id="28"/>
          <p:cNvSpPr txBox="true"/>
          <p:nvPr/>
        </p:nvSpPr>
        <p:spPr>
          <a:xfrm rot="0">
            <a:off x="11258900" y="8253529"/>
            <a:ext cx="6181964" cy="372705"/>
          </a:xfrm>
          <a:prstGeom prst="rect">
            <a:avLst/>
          </a:prstGeom>
        </p:spPr>
        <p:txBody>
          <a:bodyPr anchor="t" rtlCol="false" tIns="0" lIns="0" bIns="0" rIns="0">
            <a:spAutoFit/>
          </a:bodyPr>
          <a:lstStyle/>
          <a:p>
            <a:pPr algn="l">
              <a:lnSpc>
                <a:spcPts val="3082"/>
              </a:lnSpc>
            </a:pPr>
            <a:r>
              <a:rPr lang="en-US" sz="2201">
                <a:solidFill>
                  <a:srgbClr val="000000"/>
                </a:solidFill>
                <a:latin typeface="Canva Sans"/>
                <a:ea typeface="Canva Sans"/>
                <a:cs typeface="Canva Sans"/>
                <a:sym typeface="Canva Sans"/>
              </a:rPr>
              <a:t>SDG 11 – Sustai</a:t>
            </a:r>
            <a:r>
              <a:rPr lang="en-US" sz="2201">
                <a:solidFill>
                  <a:srgbClr val="000000"/>
                </a:solidFill>
                <a:latin typeface="Canva Sans"/>
                <a:ea typeface="Canva Sans"/>
                <a:cs typeface="Canva Sans"/>
                <a:sym typeface="Canva Sans"/>
              </a:rPr>
              <a:t>nable Cities &amp; Communities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graphicFrame>
        <p:nvGraphicFramePr>
          <p:cNvPr name="Object 9" id="9"/>
          <p:cNvGraphicFramePr/>
          <p:nvPr/>
        </p:nvGraphicFramePr>
        <p:xfrm>
          <a:off x="1785796" y="2856238"/>
          <a:ext cx="10331009" cy="8229600"/>
        </p:xfrm>
        <a:graphic>
          <a:graphicData uri="http://schemas.openxmlformats.org/presentationml/2006/ole">
            <p:oleObj imgW="12395200" imgH="10287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0" id="10"/>
          <p:cNvSpPr txBox="true"/>
          <p:nvPr/>
        </p:nvSpPr>
        <p:spPr>
          <a:xfrm rot="0">
            <a:off x="3985719"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 Project Schedul</a:t>
            </a:r>
            <a:r>
              <a:rPr lang="en-US" b="true" sz="5000">
                <a:solidFill>
                  <a:srgbClr val="000000"/>
                </a:solidFill>
                <a:latin typeface="Times New Roman Bold"/>
                <a:ea typeface="Times New Roman Bold"/>
                <a:cs typeface="Times New Roman Bold"/>
                <a:sym typeface="Times New Roman Bold"/>
              </a:rPr>
              <a:t>e (Gantt Chart)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3208905" y="2454583"/>
            <a:ext cx="13087287" cy="7240546"/>
          </a:xfrm>
          <a:custGeom>
            <a:avLst/>
            <a:gdLst/>
            <a:ahLst/>
            <a:cxnLst/>
            <a:rect r="r" b="b" t="t" l="l"/>
            <a:pathLst>
              <a:path h="7240546" w="13087287">
                <a:moveTo>
                  <a:pt x="0" y="0"/>
                </a:moveTo>
                <a:lnTo>
                  <a:pt x="13087287" y="0"/>
                </a:lnTo>
                <a:lnTo>
                  <a:pt x="13087287" y="7240546"/>
                </a:lnTo>
                <a:lnTo>
                  <a:pt x="0" y="7240546"/>
                </a:lnTo>
                <a:lnTo>
                  <a:pt x="0" y="0"/>
                </a:lnTo>
                <a:close/>
              </a:path>
            </a:pathLst>
          </a:custGeom>
          <a:blipFill>
            <a:blip r:embed="rId3"/>
            <a:stretch>
              <a:fillRect l="0" t="0" r="0" b="0"/>
            </a:stretch>
          </a:blipFill>
        </p:spPr>
      </p:sp>
      <p:sp>
        <p:nvSpPr>
          <p:cNvPr name="TextBox 10" id="10"/>
          <p:cNvSpPr txBox="true"/>
          <p:nvPr/>
        </p:nvSpPr>
        <p:spPr>
          <a:xfrm rot="0">
            <a:off x="3985719"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 Project Schedul</a:t>
            </a:r>
            <a:r>
              <a:rPr lang="en-US" b="true" sz="5000">
                <a:solidFill>
                  <a:srgbClr val="000000"/>
                </a:solidFill>
                <a:latin typeface="Times New Roman Bold"/>
                <a:ea typeface="Times New Roman Bold"/>
                <a:cs typeface="Times New Roman Bold"/>
                <a:sym typeface="Times New Roman Bold"/>
              </a:rPr>
              <a:t>e (Gantt Chart)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3431524" y="2858114"/>
            <a:ext cx="12785186" cy="6552408"/>
          </a:xfrm>
          <a:custGeom>
            <a:avLst/>
            <a:gdLst/>
            <a:ahLst/>
            <a:cxnLst/>
            <a:rect r="r" b="b" t="t" l="l"/>
            <a:pathLst>
              <a:path h="6552408" w="12785186">
                <a:moveTo>
                  <a:pt x="0" y="0"/>
                </a:moveTo>
                <a:lnTo>
                  <a:pt x="12785186" y="0"/>
                </a:lnTo>
                <a:lnTo>
                  <a:pt x="12785186" y="6552407"/>
                </a:lnTo>
                <a:lnTo>
                  <a:pt x="0" y="6552407"/>
                </a:lnTo>
                <a:lnTo>
                  <a:pt x="0" y="0"/>
                </a:lnTo>
                <a:close/>
              </a:path>
            </a:pathLst>
          </a:custGeom>
          <a:blipFill>
            <a:blip r:embed="rId3"/>
            <a:stretch>
              <a:fillRect l="0" t="0" r="0" b="0"/>
            </a:stretch>
          </a:blipFill>
        </p:spPr>
      </p:sp>
      <p:sp>
        <p:nvSpPr>
          <p:cNvPr name="TextBox 10" id="10"/>
          <p:cNvSpPr txBox="true"/>
          <p:nvPr/>
        </p:nvSpPr>
        <p:spPr>
          <a:xfrm rot="0">
            <a:off x="3752786" y="1259214"/>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Lit</a:t>
            </a:r>
            <a:r>
              <a:rPr lang="en-US" b="true" sz="5000">
                <a:solidFill>
                  <a:srgbClr val="000000"/>
                </a:solidFill>
                <a:latin typeface="Times New Roman Bold"/>
                <a:ea typeface="Times New Roman Bold"/>
                <a:cs typeface="Times New Roman Bold"/>
                <a:sym typeface="Times New Roman Bold"/>
              </a:rPr>
              <a:t>erature Review</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10094142"/>
            <a:ext cx="18307050" cy="199031"/>
            <a:chOff x="0" y="0"/>
            <a:chExt cx="24409400" cy="265374"/>
          </a:xfrm>
        </p:grpSpPr>
        <p:sp>
          <p:nvSpPr>
            <p:cNvPr name="Freeform 3" id="3"/>
            <p:cNvSpPr/>
            <p:nvPr/>
          </p:nvSpPr>
          <p:spPr>
            <a:xfrm flipH="false" flipV="false" rot="0">
              <a:off x="12700" y="1270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sp>
          <p:nvSpPr>
            <p:cNvPr name="Freeform 4" id="4"/>
            <p:cNvSpPr/>
            <p:nvPr/>
          </p:nvSpPr>
          <p:spPr>
            <a:xfrm flipH="false" flipV="false" rot="0">
              <a:off x="0" y="0"/>
              <a:ext cx="24409400" cy="265430"/>
            </a:xfrm>
            <a:custGeom>
              <a:avLst/>
              <a:gdLst/>
              <a:ahLst/>
              <a:cxnLst/>
              <a:rect r="r" b="b" t="t" l="l"/>
              <a:pathLst>
                <a:path h="265430" w="24409400">
                  <a:moveTo>
                    <a:pt x="12700" y="0"/>
                  </a:moveTo>
                  <a:lnTo>
                    <a:pt x="24396700" y="0"/>
                  </a:lnTo>
                  <a:cubicBezTo>
                    <a:pt x="24403686" y="0"/>
                    <a:pt x="24409400" y="5715"/>
                    <a:pt x="24409400" y="12700"/>
                  </a:cubicBezTo>
                  <a:lnTo>
                    <a:pt x="24409400" y="252730"/>
                  </a:lnTo>
                  <a:cubicBezTo>
                    <a:pt x="24409400" y="259715"/>
                    <a:pt x="24403686" y="265430"/>
                    <a:pt x="24396700" y="265430"/>
                  </a:cubicBezTo>
                  <a:lnTo>
                    <a:pt x="12700" y="265430"/>
                  </a:lnTo>
                  <a:cubicBezTo>
                    <a:pt x="5715" y="265430"/>
                    <a:pt x="0" y="259715"/>
                    <a:pt x="0" y="252730"/>
                  </a:cubicBezTo>
                  <a:lnTo>
                    <a:pt x="0" y="12700"/>
                  </a:lnTo>
                  <a:cubicBezTo>
                    <a:pt x="0" y="5715"/>
                    <a:pt x="5715" y="0"/>
                    <a:pt x="12700" y="0"/>
                  </a:cubicBezTo>
                  <a:moveTo>
                    <a:pt x="12700" y="25400"/>
                  </a:moveTo>
                  <a:lnTo>
                    <a:pt x="12700" y="12700"/>
                  </a:lnTo>
                  <a:lnTo>
                    <a:pt x="25400" y="12700"/>
                  </a:lnTo>
                  <a:lnTo>
                    <a:pt x="25400" y="252730"/>
                  </a:lnTo>
                  <a:lnTo>
                    <a:pt x="12700" y="252730"/>
                  </a:lnTo>
                  <a:lnTo>
                    <a:pt x="12700" y="240030"/>
                  </a:lnTo>
                  <a:lnTo>
                    <a:pt x="24396700" y="240030"/>
                  </a:lnTo>
                  <a:lnTo>
                    <a:pt x="24396700" y="252730"/>
                  </a:lnTo>
                  <a:lnTo>
                    <a:pt x="24384000" y="252730"/>
                  </a:lnTo>
                  <a:lnTo>
                    <a:pt x="24384000" y="12700"/>
                  </a:lnTo>
                  <a:lnTo>
                    <a:pt x="24396700" y="12700"/>
                  </a:lnTo>
                  <a:lnTo>
                    <a:pt x="24396700" y="25400"/>
                  </a:lnTo>
                  <a:lnTo>
                    <a:pt x="12700" y="25400"/>
                  </a:lnTo>
                  <a:close/>
                </a:path>
              </a:pathLst>
            </a:custGeom>
            <a:solidFill>
              <a:srgbClr val="41719C"/>
            </a:solidFill>
          </p:spPr>
        </p:sp>
      </p:grpSp>
      <p:grpSp>
        <p:nvGrpSpPr>
          <p:cNvPr name="Group 5" id="5"/>
          <p:cNvGrpSpPr/>
          <p:nvPr/>
        </p:nvGrpSpPr>
        <p:grpSpPr>
          <a:xfrm rot="0">
            <a:off x="-9525" y="-9525"/>
            <a:ext cx="18307050" cy="1159786"/>
            <a:chOff x="0" y="0"/>
            <a:chExt cx="24409400" cy="1546382"/>
          </a:xfrm>
        </p:grpSpPr>
        <p:sp>
          <p:nvSpPr>
            <p:cNvPr name="Freeform 6" id="6"/>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7" id="7"/>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8" id="8"/>
          <p:cNvGrpSpPr>
            <a:grpSpLocks noChangeAspect="true"/>
          </p:cNvGrpSpPr>
          <p:nvPr/>
        </p:nvGrpSpPr>
        <p:grpSpPr>
          <a:xfrm rot="0">
            <a:off x="0" y="385834"/>
            <a:ext cx="3571591" cy="1718842"/>
            <a:chOff x="0" y="0"/>
            <a:chExt cx="4762122" cy="2291790"/>
          </a:xfrm>
        </p:grpSpPr>
        <p:sp>
          <p:nvSpPr>
            <p:cNvPr name="Freeform 9" id="9"/>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sp>
        <p:nvSpPr>
          <p:cNvPr name="Freeform 10" id="10"/>
          <p:cNvSpPr/>
          <p:nvPr/>
        </p:nvSpPr>
        <p:spPr>
          <a:xfrm flipH="false" flipV="false" rot="0">
            <a:off x="450206" y="4387112"/>
            <a:ext cx="1876319" cy="1221953"/>
          </a:xfrm>
          <a:custGeom>
            <a:avLst/>
            <a:gdLst/>
            <a:ahLst/>
            <a:cxnLst/>
            <a:rect r="r" b="b" t="t" l="l"/>
            <a:pathLst>
              <a:path h="1221953" w="1876319">
                <a:moveTo>
                  <a:pt x="0" y="0"/>
                </a:moveTo>
                <a:lnTo>
                  <a:pt x="1876319" y="0"/>
                </a:lnTo>
                <a:lnTo>
                  <a:pt x="1876319" y="1221953"/>
                </a:lnTo>
                <a:lnTo>
                  <a:pt x="0" y="1221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3904268" y="2681911"/>
            <a:ext cx="3294870" cy="946526"/>
          </a:xfrm>
          <a:custGeom>
            <a:avLst/>
            <a:gdLst/>
            <a:ahLst/>
            <a:cxnLst/>
            <a:rect r="r" b="b" t="t" l="l"/>
            <a:pathLst>
              <a:path h="946526" w="3294870">
                <a:moveTo>
                  <a:pt x="0" y="0"/>
                </a:moveTo>
                <a:lnTo>
                  <a:pt x="3294871" y="0"/>
                </a:lnTo>
                <a:lnTo>
                  <a:pt x="3294871"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2080164" y="2633721"/>
            <a:ext cx="3294870" cy="946526"/>
          </a:xfrm>
          <a:custGeom>
            <a:avLst/>
            <a:gdLst/>
            <a:ahLst/>
            <a:cxnLst/>
            <a:rect r="r" b="b" t="t" l="l"/>
            <a:pathLst>
              <a:path h="946526" w="3294870">
                <a:moveTo>
                  <a:pt x="0" y="0"/>
                </a:moveTo>
                <a:lnTo>
                  <a:pt x="3294870" y="0"/>
                </a:lnTo>
                <a:lnTo>
                  <a:pt x="3294870"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2080164" y="4012511"/>
            <a:ext cx="3294870" cy="946526"/>
          </a:xfrm>
          <a:custGeom>
            <a:avLst/>
            <a:gdLst/>
            <a:ahLst/>
            <a:cxnLst/>
            <a:rect r="r" b="b" t="t" l="l"/>
            <a:pathLst>
              <a:path h="946526" w="3294870">
                <a:moveTo>
                  <a:pt x="0" y="0"/>
                </a:moveTo>
                <a:lnTo>
                  <a:pt x="3294870" y="0"/>
                </a:lnTo>
                <a:lnTo>
                  <a:pt x="3294870" y="946527"/>
                </a:lnTo>
                <a:lnTo>
                  <a:pt x="0" y="9465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080164" y="6762814"/>
            <a:ext cx="3294870" cy="946526"/>
          </a:xfrm>
          <a:custGeom>
            <a:avLst/>
            <a:gdLst/>
            <a:ahLst/>
            <a:cxnLst/>
            <a:rect r="r" b="b" t="t" l="l"/>
            <a:pathLst>
              <a:path h="946526" w="3294870">
                <a:moveTo>
                  <a:pt x="0" y="0"/>
                </a:moveTo>
                <a:lnTo>
                  <a:pt x="3294870" y="0"/>
                </a:lnTo>
                <a:lnTo>
                  <a:pt x="3294870"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998383" y="8137965"/>
            <a:ext cx="3294870" cy="946526"/>
          </a:xfrm>
          <a:custGeom>
            <a:avLst/>
            <a:gdLst/>
            <a:ahLst/>
            <a:cxnLst/>
            <a:rect r="r" b="b" t="t" l="l"/>
            <a:pathLst>
              <a:path h="946526" w="3294870">
                <a:moveTo>
                  <a:pt x="0" y="0"/>
                </a:moveTo>
                <a:lnTo>
                  <a:pt x="3294870" y="0"/>
                </a:lnTo>
                <a:lnTo>
                  <a:pt x="3294870" y="946527"/>
                </a:lnTo>
                <a:lnTo>
                  <a:pt x="0" y="9465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2080164" y="5387663"/>
            <a:ext cx="3294870" cy="946526"/>
          </a:xfrm>
          <a:custGeom>
            <a:avLst/>
            <a:gdLst/>
            <a:ahLst/>
            <a:cxnLst/>
            <a:rect r="r" b="b" t="t" l="l"/>
            <a:pathLst>
              <a:path h="946526" w="3294870">
                <a:moveTo>
                  <a:pt x="0" y="0"/>
                </a:moveTo>
                <a:lnTo>
                  <a:pt x="3294870" y="0"/>
                </a:lnTo>
                <a:lnTo>
                  <a:pt x="3294870"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6712600" y="4523719"/>
            <a:ext cx="1125194" cy="1197015"/>
          </a:xfrm>
          <a:custGeom>
            <a:avLst/>
            <a:gdLst/>
            <a:ahLst/>
            <a:cxnLst/>
            <a:rect r="r" b="b" t="t" l="l"/>
            <a:pathLst>
              <a:path h="1197015" w="1125194">
                <a:moveTo>
                  <a:pt x="0" y="0"/>
                </a:moveTo>
                <a:lnTo>
                  <a:pt x="1125194" y="0"/>
                </a:lnTo>
                <a:lnTo>
                  <a:pt x="1125194" y="1197015"/>
                </a:lnTo>
                <a:lnTo>
                  <a:pt x="0" y="11970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3904268" y="3970400"/>
            <a:ext cx="3294870" cy="946526"/>
          </a:xfrm>
          <a:custGeom>
            <a:avLst/>
            <a:gdLst/>
            <a:ahLst/>
            <a:cxnLst/>
            <a:rect r="r" b="b" t="t" l="l"/>
            <a:pathLst>
              <a:path h="946526" w="3294870">
                <a:moveTo>
                  <a:pt x="0" y="0"/>
                </a:moveTo>
                <a:lnTo>
                  <a:pt x="3294871" y="0"/>
                </a:lnTo>
                <a:lnTo>
                  <a:pt x="3294871"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3904268" y="6720702"/>
            <a:ext cx="3294870" cy="946526"/>
          </a:xfrm>
          <a:custGeom>
            <a:avLst/>
            <a:gdLst/>
            <a:ahLst/>
            <a:cxnLst/>
            <a:rect r="r" b="b" t="t" l="l"/>
            <a:pathLst>
              <a:path h="946526" w="3294870">
                <a:moveTo>
                  <a:pt x="0" y="0"/>
                </a:moveTo>
                <a:lnTo>
                  <a:pt x="3294871" y="0"/>
                </a:lnTo>
                <a:lnTo>
                  <a:pt x="3294871" y="946527"/>
                </a:lnTo>
                <a:lnTo>
                  <a:pt x="0" y="9465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3822487" y="8095854"/>
            <a:ext cx="3294870" cy="946526"/>
          </a:xfrm>
          <a:custGeom>
            <a:avLst/>
            <a:gdLst/>
            <a:ahLst/>
            <a:cxnLst/>
            <a:rect r="r" b="b" t="t" l="l"/>
            <a:pathLst>
              <a:path h="946526" w="3294870">
                <a:moveTo>
                  <a:pt x="0" y="0"/>
                </a:moveTo>
                <a:lnTo>
                  <a:pt x="3294871" y="0"/>
                </a:lnTo>
                <a:lnTo>
                  <a:pt x="3294871"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3904268" y="5345551"/>
            <a:ext cx="3294870" cy="946526"/>
          </a:xfrm>
          <a:custGeom>
            <a:avLst/>
            <a:gdLst/>
            <a:ahLst/>
            <a:cxnLst/>
            <a:rect r="r" b="b" t="t" l="l"/>
            <a:pathLst>
              <a:path h="946526" w="3294870">
                <a:moveTo>
                  <a:pt x="0" y="0"/>
                </a:moveTo>
                <a:lnTo>
                  <a:pt x="3294871" y="0"/>
                </a:lnTo>
                <a:lnTo>
                  <a:pt x="3294871" y="946526"/>
                </a:lnTo>
                <a:lnTo>
                  <a:pt x="0" y="946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5400000">
            <a:off x="2202568" y="3420526"/>
            <a:ext cx="1701700" cy="1701700"/>
          </a:xfrm>
          <a:custGeom>
            <a:avLst/>
            <a:gdLst/>
            <a:ahLst/>
            <a:cxnLst/>
            <a:rect r="r" b="b" t="t" l="l"/>
            <a:pathLst>
              <a:path h="1701700" w="1701700">
                <a:moveTo>
                  <a:pt x="0" y="0"/>
                </a:moveTo>
                <a:lnTo>
                  <a:pt x="1701700" y="0"/>
                </a:lnTo>
                <a:lnTo>
                  <a:pt x="1701700" y="1701700"/>
                </a:lnTo>
                <a:lnTo>
                  <a:pt x="0" y="17017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195949">
            <a:off x="2474020" y="5387258"/>
            <a:ext cx="1507190" cy="1507190"/>
          </a:xfrm>
          <a:custGeom>
            <a:avLst/>
            <a:gdLst/>
            <a:ahLst/>
            <a:cxnLst/>
            <a:rect r="r" b="b" t="t" l="l"/>
            <a:pathLst>
              <a:path h="1507190" w="1507190">
                <a:moveTo>
                  <a:pt x="0" y="0"/>
                </a:moveTo>
                <a:lnTo>
                  <a:pt x="1507190" y="0"/>
                </a:lnTo>
                <a:lnTo>
                  <a:pt x="1507190" y="1507190"/>
                </a:lnTo>
                <a:lnTo>
                  <a:pt x="0" y="15071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469799">
            <a:off x="2141634" y="5998749"/>
            <a:ext cx="2171962" cy="2171962"/>
          </a:xfrm>
          <a:custGeom>
            <a:avLst/>
            <a:gdLst/>
            <a:ahLst/>
            <a:cxnLst/>
            <a:rect r="r" b="b" t="t" l="l"/>
            <a:pathLst>
              <a:path h="2171962" w="2171962">
                <a:moveTo>
                  <a:pt x="0" y="0"/>
                </a:moveTo>
                <a:lnTo>
                  <a:pt x="2171962" y="0"/>
                </a:lnTo>
                <a:lnTo>
                  <a:pt x="2171962" y="2171961"/>
                </a:lnTo>
                <a:lnTo>
                  <a:pt x="0" y="21719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4423145">
            <a:off x="2388848" y="4306180"/>
            <a:ext cx="1120898" cy="1120898"/>
          </a:xfrm>
          <a:custGeom>
            <a:avLst/>
            <a:gdLst/>
            <a:ahLst/>
            <a:cxnLst/>
            <a:rect r="r" b="b" t="t" l="l"/>
            <a:pathLst>
              <a:path h="1120898" w="1120898">
                <a:moveTo>
                  <a:pt x="0" y="0"/>
                </a:moveTo>
                <a:lnTo>
                  <a:pt x="1120897" y="0"/>
                </a:lnTo>
                <a:lnTo>
                  <a:pt x="1120897" y="1120897"/>
                </a:lnTo>
                <a:lnTo>
                  <a:pt x="0" y="11208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6" id="26"/>
          <p:cNvSpPr/>
          <p:nvPr/>
        </p:nvSpPr>
        <p:spPr>
          <a:xfrm flipH="true" flipV="false" rot="5554427">
            <a:off x="15410582" y="3000013"/>
            <a:ext cx="1494168" cy="1494168"/>
          </a:xfrm>
          <a:custGeom>
            <a:avLst/>
            <a:gdLst/>
            <a:ahLst/>
            <a:cxnLst/>
            <a:rect r="r" b="b" t="t" l="l"/>
            <a:pathLst>
              <a:path h="1494168" w="1494168">
                <a:moveTo>
                  <a:pt x="1494169" y="0"/>
                </a:moveTo>
                <a:lnTo>
                  <a:pt x="0" y="0"/>
                </a:lnTo>
                <a:lnTo>
                  <a:pt x="0" y="1494169"/>
                </a:lnTo>
                <a:lnTo>
                  <a:pt x="1494169" y="1494169"/>
                </a:lnTo>
                <a:lnTo>
                  <a:pt x="1494169"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true" flipV="false" rot="3621636">
            <a:off x="15727992" y="4247547"/>
            <a:ext cx="840997" cy="840997"/>
          </a:xfrm>
          <a:custGeom>
            <a:avLst/>
            <a:gdLst/>
            <a:ahLst/>
            <a:cxnLst/>
            <a:rect r="r" b="b" t="t" l="l"/>
            <a:pathLst>
              <a:path h="840997" w="840997">
                <a:moveTo>
                  <a:pt x="840997" y="0"/>
                </a:moveTo>
                <a:lnTo>
                  <a:pt x="0" y="0"/>
                </a:lnTo>
                <a:lnTo>
                  <a:pt x="0" y="840997"/>
                </a:lnTo>
                <a:lnTo>
                  <a:pt x="840997" y="840997"/>
                </a:lnTo>
                <a:lnTo>
                  <a:pt x="84099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true" flipV="false" rot="1604565">
            <a:off x="15559830" y="5308569"/>
            <a:ext cx="902907" cy="902907"/>
          </a:xfrm>
          <a:custGeom>
            <a:avLst/>
            <a:gdLst/>
            <a:ahLst/>
            <a:cxnLst/>
            <a:rect r="r" b="b" t="t" l="l"/>
            <a:pathLst>
              <a:path h="902907" w="902907">
                <a:moveTo>
                  <a:pt x="902907" y="0"/>
                </a:moveTo>
                <a:lnTo>
                  <a:pt x="0" y="0"/>
                </a:lnTo>
                <a:lnTo>
                  <a:pt x="0" y="902907"/>
                </a:lnTo>
                <a:lnTo>
                  <a:pt x="902907" y="902907"/>
                </a:lnTo>
                <a:lnTo>
                  <a:pt x="90290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9" id="29"/>
          <p:cNvSpPr/>
          <p:nvPr/>
        </p:nvSpPr>
        <p:spPr>
          <a:xfrm flipH="true" flipV="false" rot="-201819">
            <a:off x="15158769" y="6420584"/>
            <a:ext cx="1905135" cy="1905135"/>
          </a:xfrm>
          <a:custGeom>
            <a:avLst/>
            <a:gdLst/>
            <a:ahLst/>
            <a:cxnLst/>
            <a:rect r="r" b="b" t="t" l="l"/>
            <a:pathLst>
              <a:path h="1905135" w="1905135">
                <a:moveTo>
                  <a:pt x="1905134" y="0"/>
                </a:moveTo>
                <a:lnTo>
                  <a:pt x="0" y="0"/>
                </a:lnTo>
                <a:lnTo>
                  <a:pt x="0" y="1905134"/>
                </a:lnTo>
                <a:lnTo>
                  <a:pt x="1905134" y="1905134"/>
                </a:lnTo>
                <a:lnTo>
                  <a:pt x="190513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true" flipV="false" rot="455678">
            <a:off x="15522548" y="5970988"/>
            <a:ext cx="1120898" cy="1120898"/>
          </a:xfrm>
          <a:custGeom>
            <a:avLst/>
            <a:gdLst/>
            <a:ahLst/>
            <a:cxnLst/>
            <a:rect r="r" b="b" t="t" l="l"/>
            <a:pathLst>
              <a:path h="1120898" w="1120898">
                <a:moveTo>
                  <a:pt x="1120897" y="0"/>
                </a:moveTo>
                <a:lnTo>
                  <a:pt x="0" y="0"/>
                </a:lnTo>
                <a:lnTo>
                  <a:pt x="0" y="1120898"/>
                </a:lnTo>
                <a:lnTo>
                  <a:pt x="1120897" y="1120898"/>
                </a:lnTo>
                <a:lnTo>
                  <a:pt x="112089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1" id="31"/>
          <p:cNvSpPr/>
          <p:nvPr/>
        </p:nvSpPr>
        <p:spPr>
          <a:xfrm flipH="false" flipV="false" rot="-1985397">
            <a:off x="2618198" y="5023355"/>
            <a:ext cx="1073302" cy="1073302"/>
          </a:xfrm>
          <a:custGeom>
            <a:avLst/>
            <a:gdLst/>
            <a:ahLst/>
            <a:cxnLst/>
            <a:rect r="r" b="b" t="t" l="l"/>
            <a:pathLst>
              <a:path h="1073302" w="1073302">
                <a:moveTo>
                  <a:pt x="0" y="0"/>
                </a:moveTo>
                <a:lnTo>
                  <a:pt x="1073302" y="0"/>
                </a:lnTo>
                <a:lnTo>
                  <a:pt x="1073302" y="1073302"/>
                </a:lnTo>
                <a:lnTo>
                  <a:pt x="0" y="10733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2" id="32"/>
          <p:cNvGrpSpPr/>
          <p:nvPr/>
        </p:nvGrpSpPr>
        <p:grpSpPr>
          <a:xfrm rot="0">
            <a:off x="8096601" y="4317876"/>
            <a:ext cx="3086100" cy="308610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FFFF"/>
            </a:solidFill>
            <a:ln w="19050" cap="rnd">
              <a:solidFill>
                <a:srgbClr val="000000"/>
              </a:solidFill>
              <a:prstDash val="solid"/>
              <a:round/>
            </a:ln>
          </p:spPr>
        </p:sp>
        <p:sp>
          <p:nvSpPr>
            <p:cNvPr name="TextBox 34" id="34"/>
            <p:cNvSpPr txBox="true"/>
            <p:nvPr/>
          </p:nvSpPr>
          <p:spPr>
            <a:xfrm>
              <a:off x="0" y="-57150"/>
              <a:ext cx="812800" cy="869950"/>
            </a:xfrm>
            <a:prstGeom prst="rect">
              <a:avLst/>
            </a:prstGeom>
          </p:spPr>
          <p:txBody>
            <a:bodyPr anchor="ctr" rtlCol="false" tIns="50800" lIns="50800" bIns="50800" rIns="50800"/>
            <a:lstStyle/>
            <a:p>
              <a:pPr algn="ctr">
                <a:lnSpc>
                  <a:spcPts val="2698"/>
                </a:lnSpc>
              </a:pPr>
            </a:p>
          </p:txBody>
        </p:sp>
      </p:grpSp>
      <p:sp>
        <p:nvSpPr>
          <p:cNvPr name="TextBox 35" id="35"/>
          <p:cNvSpPr txBox="true"/>
          <p:nvPr/>
        </p:nvSpPr>
        <p:spPr>
          <a:xfrm rot="0">
            <a:off x="805809" y="5707209"/>
            <a:ext cx="995883" cy="340393"/>
          </a:xfrm>
          <a:prstGeom prst="rect">
            <a:avLst/>
          </a:prstGeom>
        </p:spPr>
        <p:txBody>
          <a:bodyPr anchor="t" rtlCol="false" tIns="0" lIns="0" bIns="0" rIns="0">
            <a:spAutoFit/>
          </a:bodyPr>
          <a:lstStyle/>
          <a:p>
            <a:pPr algn="ctr">
              <a:lnSpc>
                <a:spcPts val="2763"/>
              </a:lnSpc>
              <a:spcBef>
                <a:spcPct val="0"/>
              </a:spcBef>
            </a:pPr>
            <a:r>
              <a:rPr lang="en-US" b="true" sz="1973" spc="63">
                <a:solidFill>
                  <a:srgbClr val="000000"/>
                </a:solidFill>
                <a:latin typeface="Roboto Bold"/>
                <a:ea typeface="Roboto Bold"/>
                <a:cs typeface="Roboto Bold"/>
                <a:sym typeface="Roboto Bold"/>
              </a:rPr>
              <a:t>Users</a:t>
            </a:r>
          </a:p>
        </p:txBody>
      </p:sp>
      <p:sp>
        <p:nvSpPr>
          <p:cNvPr name="TextBox 36" id="36"/>
          <p:cNvSpPr txBox="true"/>
          <p:nvPr/>
        </p:nvSpPr>
        <p:spPr>
          <a:xfrm rot="0">
            <a:off x="4735307" y="2965611"/>
            <a:ext cx="1469231" cy="321976"/>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Login / Signup</a:t>
            </a:r>
          </a:p>
        </p:txBody>
      </p:sp>
      <p:sp>
        <p:nvSpPr>
          <p:cNvPr name="TextBox 37" id="37"/>
          <p:cNvSpPr txBox="true"/>
          <p:nvPr/>
        </p:nvSpPr>
        <p:spPr>
          <a:xfrm rot="0">
            <a:off x="12509145" y="4162054"/>
            <a:ext cx="2491308"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Edit , update  or remove station details </a:t>
            </a:r>
          </a:p>
        </p:txBody>
      </p:sp>
      <p:sp>
        <p:nvSpPr>
          <p:cNvPr name="TextBox 38" id="38"/>
          <p:cNvSpPr txBox="true"/>
          <p:nvPr/>
        </p:nvSpPr>
        <p:spPr>
          <a:xfrm rot="0">
            <a:off x="12612206" y="5544968"/>
            <a:ext cx="2230785"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Monitors Charging Stations </a:t>
            </a:r>
          </a:p>
        </p:txBody>
      </p:sp>
      <p:sp>
        <p:nvSpPr>
          <p:cNvPr name="TextBox 39" id="39"/>
          <p:cNvSpPr txBox="true"/>
          <p:nvPr/>
        </p:nvSpPr>
        <p:spPr>
          <a:xfrm rot="0">
            <a:off x="12285045" y="6924739"/>
            <a:ext cx="2819474"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View the Status of contributions</a:t>
            </a:r>
          </a:p>
        </p:txBody>
      </p:sp>
      <p:sp>
        <p:nvSpPr>
          <p:cNvPr name="TextBox 40" id="40"/>
          <p:cNvSpPr txBox="true"/>
          <p:nvPr/>
        </p:nvSpPr>
        <p:spPr>
          <a:xfrm rot="0">
            <a:off x="12481945" y="8254978"/>
            <a:ext cx="2425675"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Responds to SOS alerts (if required )</a:t>
            </a:r>
          </a:p>
        </p:txBody>
      </p:sp>
      <p:sp>
        <p:nvSpPr>
          <p:cNvPr name="TextBox 41" id="41"/>
          <p:cNvSpPr txBox="true"/>
          <p:nvPr/>
        </p:nvSpPr>
        <p:spPr>
          <a:xfrm rot="0">
            <a:off x="12449128" y="2795186"/>
            <a:ext cx="2491308"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Approve or reject user added stations</a:t>
            </a:r>
          </a:p>
        </p:txBody>
      </p:sp>
      <p:sp>
        <p:nvSpPr>
          <p:cNvPr name="TextBox 42" id="42"/>
          <p:cNvSpPr txBox="true"/>
          <p:nvPr/>
        </p:nvSpPr>
        <p:spPr>
          <a:xfrm rot="0">
            <a:off x="4306049" y="4087413"/>
            <a:ext cx="2491308"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View Real-Time Charging Startions</a:t>
            </a:r>
          </a:p>
        </p:txBody>
      </p:sp>
      <p:sp>
        <p:nvSpPr>
          <p:cNvPr name="TextBox 43" id="43"/>
          <p:cNvSpPr txBox="true"/>
          <p:nvPr/>
        </p:nvSpPr>
        <p:spPr>
          <a:xfrm rot="0">
            <a:off x="4436311" y="5502856"/>
            <a:ext cx="2230785"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Starts Navigation using Maps</a:t>
            </a:r>
          </a:p>
        </p:txBody>
      </p:sp>
      <p:sp>
        <p:nvSpPr>
          <p:cNvPr name="TextBox 44" id="44"/>
          <p:cNvSpPr txBox="true"/>
          <p:nvPr/>
        </p:nvSpPr>
        <p:spPr>
          <a:xfrm rot="0">
            <a:off x="4436311" y="6996927"/>
            <a:ext cx="2067223" cy="321976"/>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Trigger SOS for Help</a:t>
            </a:r>
          </a:p>
        </p:txBody>
      </p:sp>
      <p:sp>
        <p:nvSpPr>
          <p:cNvPr name="TextBox 45" id="45"/>
          <p:cNvSpPr txBox="true"/>
          <p:nvPr/>
        </p:nvSpPr>
        <p:spPr>
          <a:xfrm rot="0">
            <a:off x="4306049" y="8212867"/>
            <a:ext cx="2425675" cy="655351"/>
          </a:xfrm>
          <a:prstGeom prst="rect">
            <a:avLst/>
          </a:prstGeom>
        </p:spPr>
        <p:txBody>
          <a:bodyPr anchor="t" rtlCol="false" tIns="0" lIns="0" bIns="0" rIns="0">
            <a:spAutoFit/>
          </a:bodyPr>
          <a:lstStyle/>
          <a:p>
            <a:pPr algn="ctr">
              <a:lnSpc>
                <a:spcPts val="2698"/>
              </a:lnSpc>
              <a:spcBef>
                <a:spcPct val="0"/>
              </a:spcBef>
            </a:pPr>
            <a:r>
              <a:rPr lang="en-US" sz="1799">
                <a:solidFill>
                  <a:srgbClr val="000000"/>
                </a:solidFill>
                <a:latin typeface="Roboto"/>
                <a:ea typeface="Roboto"/>
                <a:cs typeface="Roboto"/>
                <a:sym typeface="Roboto"/>
              </a:rPr>
              <a:t>Contribution for Charging Stations</a:t>
            </a:r>
          </a:p>
        </p:txBody>
      </p:sp>
      <p:sp>
        <p:nvSpPr>
          <p:cNvPr name="TextBox 46" id="46"/>
          <p:cNvSpPr txBox="true"/>
          <p:nvPr/>
        </p:nvSpPr>
        <p:spPr>
          <a:xfrm rot="0">
            <a:off x="16841910" y="5707824"/>
            <a:ext cx="995883" cy="340393"/>
          </a:xfrm>
          <a:prstGeom prst="rect">
            <a:avLst/>
          </a:prstGeom>
        </p:spPr>
        <p:txBody>
          <a:bodyPr anchor="t" rtlCol="false" tIns="0" lIns="0" bIns="0" rIns="0">
            <a:spAutoFit/>
          </a:bodyPr>
          <a:lstStyle/>
          <a:p>
            <a:pPr algn="ctr">
              <a:lnSpc>
                <a:spcPts val="2763"/>
              </a:lnSpc>
              <a:spcBef>
                <a:spcPct val="0"/>
              </a:spcBef>
            </a:pPr>
            <a:r>
              <a:rPr lang="en-US" b="true" sz="1973" spc="63">
                <a:solidFill>
                  <a:srgbClr val="000000"/>
                </a:solidFill>
                <a:latin typeface="Roboto Bold"/>
                <a:ea typeface="Roboto Bold"/>
                <a:cs typeface="Roboto Bold"/>
                <a:sym typeface="Roboto Bold"/>
              </a:rPr>
              <a:t>Admin</a:t>
            </a:r>
          </a:p>
        </p:txBody>
      </p:sp>
      <p:sp>
        <p:nvSpPr>
          <p:cNvPr name="TextBox 47" id="47"/>
          <p:cNvSpPr txBox="true"/>
          <p:nvPr/>
        </p:nvSpPr>
        <p:spPr>
          <a:xfrm rot="0">
            <a:off x="8008585" y="4858718"/>
            <a:ext cx="3262131" cy="2067180"/>
          </a:xfrm>
          <a:prstGeom prst="rect">
            <a:avLst/>
          </a:prstGeom>
        </p:spPr>
        <p:txBody>
          <a:bodyPr anchor="t" rtlCol="false" tIns="0" lIns="0" bIns="0" rIns="0">
            <a:spAutoFit/>
          </a:bodyPr>
          <a:lstStyle/>
          <a:p>
            <a:pPr algn="ctr">
              <a:lnSpc>
                <a:spcPts val="2639"/>
              </a:lnSpc>
            </a:pPr>
            <a:r>
              <a:rPr lang="en-US" sz="2513">
                <a:solidFill>
                  <a:srgbClr val="000000"/>
                </a:solidFill>
                <a:latin typeface="Copperplate Gothic 32 AB Bold"/>
                <a:ea typeface="Copperplate Gothic 32 AB Bold"/>
                <a:cs typeface="Copperplate Gothic 32 AB Bold"/>
                <a:sym typeface="Copperplate Gothic 32 AB Bold"/>
              </a:rPr>
              <a:t>ELECTRIC VEHICLE ECOSYSTEM FOR NAVIGATION (APP)</a:t>
            </a:r>
          </a:p>
        </p:txBody>
      </p:sp>
      <p:sp>
        <p:nvSpPr>
          <p:cNvPr name="TextBox 48" id="48"/>
          <p:cNvSpPr txBox="true"/>
          <p:nvPr/>
        </p:nvSpPr>
        <p:spPr>
          <a:xfrm rot="0">
            <a:off x="4723499" y="1376311"/>
            <a:ext cx="9832304" cy="733536"/>
          </a:xfrm>
          <a:prstGeom prst="rect">
            <a:avLst/>
          </a:prstGeom>
        </p:spPr>
        <p:txBody>
          <a:bodyPr anchor="t" rtlCol="false" tIns="0" lIns="0" bIns="0" rIns="0">
            <a:spAutoFit/>
          </a:bodyPr>
          <a:lstStyle/>
          <a:p>
            <a:pPr algn="ctr">
              <a:lnSpc>
                <a:spcPts val="5888"/>
              </a:lnSpc>
            </a:pPr>
            <a:r>
              <a:rPr lang="en-US" sz="4205" b="true">
                <a:solidFill>
                  <a:srgbClr val="000000"/>
                </a:solidFill>
                <a:latin typeface="Times New Roman Bold"/>
                <a:ea typeface="Times New Roman Bold"/>
                <a:cs typeface="Times New Roman Bold"/>
                <a:sym typeface="Times New Roman Bold"/>
              </a:rPr>
              <a:t>UseCase</a:t>
            </a:r>
            <a:r>
              <a:rPr lang="en-US" b="true" sz="4205">
                <a:solidFill>
                  <a:srgbClr val="000000"/>
                </a:solidFill>
                <a:latin typeface="Times New Roman Bold"/>
                <a:ea typeface="Times New Roman Bold"/>
                <a:cs typeface="Times New Roman Bold"/>
                <a:sym typeface="Times New Roman Bold"/>
              </a:rPr>
              <a:t> diagrams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33671" y="4243776"/>
            <a:ext cx="18020659" cy="4400044"/>
          </a:xfrm>
          <a:custGeom>
            <a:avLst/>
            <a:gdLst/>
            <a:ahLst/>
            <a:cxnLst/>
            <a:rect r="r" b="b" t="t" l="l"/>
            <a:pathLst>
              <a:path h="4400044" w="18020659">
                <a:moveTo>
                  <a:pt x="0" y="0"/>
                </a:moveTo>
                <a:lnTo>
                  <a:pt x="18020658" y="0"/>
                </a:lnTo>
                <a:lnTo>
                  <a:pt x="18020658" y="4400044"/>
                </a:lnTo>
                <a:lnTo>
                  <a:pt x="0" y="4400044"/>
                </a:lnTo>
                <a:lnTo>
                  <a:pt x="0" y="0"/>
                </a:lnTo>
                <a:close/>
              </a:path>
            </a:pathLst>
          </a:custGeom>
          <a:blipFill>
            <a:blip r:embed="rId3"/>
            <a:stretch>
              <a:fillRect l="0" t="0" r="0" b="0"/>
            </a:stretch>
          </a:blipFill>
        </p:spPr>
      </p:sp>
      <p:sp>
        <p:nvSpPr>
          <p:cNvPr name="TextBox 10" id="10"/>
          <p:cNvSpPr txBox="true"/>
          <p:nvPr/>
        </p:nvSpPr>
        <p:spPr>
          <a:xfrm rot="0">
            <a:off x="3985719"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Methodology</a:t>
            </a:r>
            <a:r>
              <a:rPr lang="en-US" b="true" sz="5000">
                <a:solidFill>
                  <a:srgbClr val="000000"/>
                </a:solidFill>
                <a:latin typeface="Times New Roman Bold"/>
                <a:ea typeface="Times New Roman Bold"/>
                <a:cs typeface="Times New Roman Bold"/>
                <a:sym typeface="Times New Roman Bold"/>
              </a:rPr>
              <a:t> with diagrams</a:t>
            </a:r>
          </a:p>
        </p:txBody>
      </p:sp>
      <p:sp>
        <p:nvSpPr>
          <p:cNvPr name="TextBox 11" id="11"/>
          <p:cNvSpPr txBox="true"/>
          <p:nvPr/>
        </p:nvSpPr>
        <p:spPr>
          <a:xfrm rot="0">
            <a:off x="6173537" y="3245287"/>
            <a:ext cx="5674950" cy="531763"/>
          </a:xfrm>
          <a:prstGeom prst="rect">
            <a:avLst/>
          </a:prstGeom>
        </p:spPr>
        <p:txBody>
          <a:bodyPr anchor="t" rtlCol="false" tIns="0" lIns="0" bIns="0" rIns="0">
            <a:spAutoFit/>
          </a:bodyPr>
          <a:lstStyle/>
          <a:p>
            <a:pPr algn="ctr">
              <a:lnSpc>
                <a:spcPts val="4363"/>
              </a:lnSpc>
            </a:pPr>
            <a:r>
              <a:rPr lang="en-US" sz="3116">
                <a:solidFill>
                  <a:srgbClr val="000000"/>
                </a:solidFill>
                <a:latin typeface="Canva Sans"/>
                <a:ea typeface="Canva Sans"/>
                <a:cs typeface="Canva Sans"/>
                <a:sym typeface="Canva Sans"/>
              </a:rPr>
              <a:t>1.Over</a:t>
            </a:r>
            <a:r>
              <a:rPr lang="en-US" sz="3116">
                <a:solidFill>
                  <a:srgbClr val="000000"/>
                </a:solidFill>
                <a:latin typeface="Canva Sans"/>
                <a:ea typeface="Canva Sans"/>
                <a:cs typeface="Canva Sans"/>
                <a:sym typeface="Canva Sans"/>
              </a:rPr>
              <a:t>all System Architecture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1906283" y="1514597"/>
            <a:ext cx="6075757" cy="8238314"/>
          </a:xfrm>
          <a:custGeom>
            <a:avLst/>
            <a:gdLst/>
            <a:ahLst/>
            <a:cxnLst/>
            <a:rect r="r" b="b" t="t" l="l"/>
            <a:pathLst>
              <a:path h="8238314" w="6075757">
                <a:moveTo>
                  <a:pt x="0" y="0"/>
                </a:moveTo>
                <a:lnTo>
                  <a:pt x="6075757" y="0"/>
                </a:lnTo>
                <a:lnTo>
                  <a:pt x="6075757" y="8238314"/>
                </a:lnTo>
                <a:lnTo>
                  <a:pt x="0" y="8238314"/>
                </a:lnTo>
                <a:lnTo>
                  <a:pt x="0" y="0"/>
                </a:lnTo>
                <a:close/>
              </a:path>
            </a:pathLst>
          </a:custGeom>
          <a:blipFill>
            <a:blip r:embed="rId3"/>
            <a:stretch>
              <a:fillRect l="0" t="0" r="0" b="0"/>
            </a:stretch>
          </a:blipFill>
        </p:spPr>
      </p:sp>
      <p:sp>
        <p:nvSpPr>
          <p:cNvPr name="TextBox 10" id="10"/>
          <p:cNvSpPr txBox="true"/>
          <p:nvPr/>
        </p:nvSpPr>
        <p:spPr>
          <a:xfrm rot="0">
            <a:off x="3846581" y="1250483"/>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Methodology</a:t>
            </a:r>
            <a:r>
              <a:rPr lang="en-US" b="true" sz="5000">
                <a:solidFill>
                  <a:srgbClr val="000000"/>
                </a:solidFill>
                <a:latin typeface="Times New Roman Bold"/>
                <a:ea typeface="Times New Roman Bold"/>
                <a:cs typeface="Times New Roman Bold"/>
                <a:sym typeface="Times New Roman Bold"/>
              </a:rPr>
              <a:t> with diagrams</a:t>
            </a:r>
          </a:p>
        </p:txBody>
      </p:sp>
      <p:sp>
        <p:nvSpPr>
          <p:cNvPr name="TextBox 11" id="11"/>
          <p:cNvSpPr txBox="true"/>
          <p:nvPr/>
        </p:nvSpPr>
        <p:spPr>
          <a:xfrm rot="0">
            <a:off x="917449" y="3037213"/>
            <a:ext cx="7038975" cy="530434"/>
          </a:xfrm>
          <a:prstGeom prst="rect">
            <a:avLst/>
          </a:prstGeom>
        </p:spPr>
        <p:txBody>
          <a:bodyPr anchor="t" rtlCol="false" tIns="0" lIns="0" bIns="0" rIns="0">
            <a:spAutoFit/>
          </a:bodyPr>
          <a:lstStyle/>
          <a:p>
            <a:pPr algn="ctr">
              <a:lnSpc>
                <a:spcPts val="4363"/>
              </a:lnSpc>
            </a:pPr>
            <a:r>
              <a:rPr lang="en-US" sz="3116">
                <a:solidFill>
                  <a:srgbClr val="000000"/>
                </a:solidFill>
                <a:latin typeface="Canva Sans"/>
                <a:ea typeface="Canva Sans"/>
                <a:cs typeface="Canva Sans"/>
                <a:sym typeface="Canva Sans"/>
              </a:rPr>
              <a:t>2. User</a:t>
            </a:r>
            <a:r>
              <a:rPr lang="en-US" sz="3116">
                <a:solidFill>
                  <a:srgbClr val="000000"/>
                </a:solidFill>
                <a:latin typeface="Canva Sans"/>
                <a:ea typeface="Canva Sans"/>
                <a:cs typeface="Canva Sans"/>
                <a:sym typeface="Canva Sans"/>
              </a:rPr>
              <a:t> Authentication &amp; Profile Flow.</a:t>
            </a:r>
          </a:p>
        </p:txBody>
      </p:sp>
      <p:sp>
        <p:nvSpPr>
          <p:cNvPr name="TextBox 12" id="12"/>
          <p:cNvSpPr txBox="true"/>
          <p:nvPr/>
        </p:nvSpPr>
        <p:spPr>
          <a:xfrm rot="0">
            <a:off x="1130033" y="3896681"/>
            <a:ext cx="9826070" cy="5500643"/>
          </a:xfrm>
          <a:prstGeom prst="rect">
            <a:avLst/>
          </a:prstGeom>
        </p:spPr>
        <p:txBody>
          <a:bodyPr anchor="t" rtlCol="false" tIns="0" lIns="0" bIns="0" rIns="0">
            <a:spAutoFit/>
          </a:bodyPr>
          <a:lstStyle/>
          <a:p>
            <a:pPr algn="l">
              <a:lnSpc>
                <a:spcPts val="3678"/>
              </a:lnSpc>
            </a:pPr>
            <a:r>
              <a:rPr lang="en-US" sz="2627" b="true">
                <a:solidFill>
                  <a:srgbClr val="000000"/>
                </a:solidFill>
                <a:latin typeface="Canva Sans Bold"/>
                <a:ea typeface="Canva Sans Bold"/>
                <a:cs typeface="Canva Sans Bold"/>
                <a:sym typeface="Canva Sans Bold"/>
              </a:rPr>
              <a:t>Start:</a:t>
            </a:r>
            <a:r>
              <a:rPr lang="en-US" sz="2627">
                <a:solidFill>
                  <a:srgbClr val="000000"/>
                </a:solidFill>
                <a:latin typeface="Canva Sans"/>
                <a:ea typeface="Canva Sans"/>
                <a:cs typeface="Canva Sans"/>
                <a:sym typeface="Canva Sans"/>
              </a:rPr>
              <a:t> User</a:t>
            </a:r>
            <a:r>
              <a:rPr lang="en-US" sz="2627">
                <a:solidFill>
                  <a:srgbClr val="000000"/>
                </a:solidFill>
                <a:latin typeface="Canva Sans"/>
                <a:ea typeface="Canva Sans"/>
                <a:cs typeface="Canva Sans"/>
                <a:sym typeface="Canva Sans"/>
              </a:rPr>
              <a:t> opens the app.</a:t>
            </a:r>
          </a:p>
          <a:p>
            <a:pPr algn="l">
              <a:lnSpc>
                <a:spcPts val="3678"/>
              </a:lnSpc>
            </a:pPr>
            <a:r>
              <a:rPr lang="en-US" b="true" sz="2627">
                <a:solidFill>
                  <a:srgbClr val="000000"/>
                </a:solidFill>
                <a:latin typeface="Canva Sans Bold"/>
                <a:ea typeface="Canva Sans Bold"/>
                <a:cs typeface="Canva Sans Bold"/>
                <a:sym typeface="Canva Sans Bold"/>
              </a:rPr>
              <a:t>Auth Loading: </a:t>
            </a:r>
            <a:r>
              <a:rPr lang="en-US" sz="2627">
                <a:solidFill>
                  <a:srgbClr val="000000"/>
                </a:solidFill>
                <a:latin typeface="Canva Sans"/>
                <a:ea typeface="Canva Sans"/>
                <a:cs typeface="Canva Sans"/>
                <a:sym typeface="Canva Sans"/>
              </a:rPr>
              <a:t>AuthContext checks for a user.</a:t>
            </a:r>
          </a:p>
          <a:p>
            <a:pPr algn="l">
              <a:lnSpc>
                <a:spcPts val="3678"/>
              </a:lnSpc>
            </a:pPr>
            <a:r>
              <a:rPr lang="en-US" b="true" sz="2627">
                <a:solidFill>
                  <a:srgbClr val="000000"/>
                </a:solidFill>
                <a:latin typeface="Canva Sans Bold"/>
                <a:ea typeface="Canva Sans Bold"/>
                <a:cs typeface="Canva Sans Bold"/>
                <a:sym typeface="Canva Sans Bold"/>
              </a:rPr>
              <a:t>Decision (User exists?):</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No:</a:t>
            </a:r>
            <a:r>
              <a:rPr lang="en-US" sz="2627">
                <a:solidFill>
                  <a:srgbClr val="000000"/>
                </a:solidFill>
                <a:latin typeface="Canva Sans"/>
                <a:ea typeface="Canva Sans"/>
                <a:cs typeface="Canva Sans"/>
                <a:sym typeface="Canva Sans"/>
              </a:rPr>
              <a:t> Show Login/Signup screens.</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Yes:</a:t>
            </a:r>
            <a:r>
              <a:rPr lang="en-US" sz="2627">
                <a:solidFill>
                  <a:srgbClr val="000000"/>
                </a:solidFill>
                <a:latin typeface="Canva Sans"/>
                <a:ea typeface="Canva Sans"/>
                <a:cs typeface="Canva Sans"/>
                <a:sym typeface="Canva Sans"/>
              </a:rPr>
              <a:t> Proceed to next check.</a:t>
            </a:r>
          </a:p>
          <a:p>
            <a:pPr algn="l">
              <a:lnSpc>
                <a:spcPts val="3678"/>
              </a:lnSpc>
            </a:pPr>
            <a:r>
              <a:rPr lang="en-US" b="true" sz="2627">
                <a:solidFill>
                  <a:srgbClr val="000000"/>
                </a:solidFill>
                <a:latin typeface="Canva Sans Bold"/>
                <a:ea typeface="Canva Sans Bold"/>
                <a:cs typeface="Canva Sans Bold"/>
                <a:sym typeface="Canva Sans Bold"/>
              </a:rPr>
              <a:t>Decision (Email Verified?):</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No:</a:t>
            </a:r>
            <a:r>
              <a:rPr lang="en-US" sz="2627">
                <a:solidFill>
                  <a:srgbClr val="000000"/>
                </a:solidFill>
                <a:latin typeface="Canva Sans"/>
                <a:ea typeface="Canva Sans"/>
                <a:cs typeface="Canva Sans"/>
                <a:sym typeface="Canva Sans"/>
              </a:rPr>
              <a:t> Redirect to verify-email screen.</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Yes: </a:t>
            </a:r>
            <a:r>
              <a:rPr lang="en-US" sz="2627">
                <a:solidFill>
                  <a:srgbClr val="000000"/>
                </a:solidFill>
                <a:latin typeface="Canva Sans"/>
                <a:ea typeface="Canva Sans"/>
                <a:cs typeface="Canva Sans"/>
                <a:sym typeface="Canva Sans"/>
              </a:rPr>
              <a:t>Proceed to next check.</a:t>
            </a:r>
          </a:p>
          <a:p>
            <a:pPr algn="l">
              <a:lnSpc>
                <a:spcPts val="3678"/>
              </a:lnSpc>
            </a:pPr>
            <a:r>
              <a:rPr lang="en-US" b="true" sz="2627">
                <a:solidFill>
                  <a:srgbClr val="000000"/>
                </a:solidFill>
                <a:latin typeface="Canva Sans Bold"/>
                <a:ea typeface="Canva Sans Bold"/>
                <a:cs typeface="Canva Sans Bold"/>
                <a:sym typeface="Canva Sans Bold"/>
              </a:rPr>
              <a:t>Decision (Vehicle Added?):</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No: </a:t>
            </a:r>
            <a:r>
              <a:rPr lang="en-US" sz="2627">
                <a:solidFill>
                  <a:srgbClr val="000000"/>
                </a:solidFill>
                <a:latin typeface="Canva Sans"/>
                <a:ea typeface="Canva Sans"/>
                <a:cs typeface="Canva Sans"/>
                <a:sym typeface="Canva Sans"/>
              </a:rPr>
              <a:t>Redirect to addVehicle screen.</a:t>
            </a:r>
          </a:p>
          <a:p>
            <a:pPr algn="l" marL="567207" indent="-283604" lvl="1">
              <a:lnSpc>
                <a:spcPts val="3678"/>
              </a:lnSpc>
              <a:buFont typeface="Arial"/>
              <a:buChar char="•"/>
            </a:pPr>
            <a:r>
              <a:rPr lang="en-US" b="true" sz="2627">
                <a:solidFill>
                  <a:srgbClr val="000000"/>
                </a:solidFill>
                <a:latin typeface="Canva Sans Bold"/>
                <a:ea typeface="Canva Sans Bold"/>
                <a:cs typeface="Canva Sans Bold"/>
                <a:sym typeface="Canva Sans Bold"/>
              </a:rPr>
              <a:t>Yes:</a:t>
            </a:r>
            <a:r>
              <a:rPr lang="en-US" sz="2627">
                <a:solidFill>
                  <a:srgbClr val="000000"/>
                </a:solidFill>
                <a:latin typeface="Canva Sans"/>
                <a:ea typeface="Canva Sans"/>
                <a:cs typeface="Canva Sans"/>
                <a:sym typeface="Canva Sans"/>
              </a:rPr>
              <a:t> Redirect to home screen.</a:t>
            </a:r>
          </a:p>
          <a:p>
            <a:pPr algn="l">
              <a:lnSpc>
                <a:spcPts val="3678"/>
              </a:lnSpc>
            </a:pPr>
            <a:r>
              <a:rPr lang="en-US" b="true" sz="2627">
                <a:solidFill>
                  <a:srgbClr val="000000"/>
                </a:solidFill>
                <a:latin typeface="Canva Sans Bold"/>
                <a:ea typeface="Canva Sans Bold"/>
                <a:cs typeface="Canva Sans Bold"/>
                <a:sym typeface="Canva Sans Bold"/>
              </a:rPr>
              <a:t>End:</a:t>
            </a:r>
            <a:r>
              <a:rPr lang="en-US" sz="2627">
                <a:solidFill>
                  <a:srgbClr val="000000"/>
                </a:solidFill>
                <a:latin typeface="Canva Sans"/>
                <a:ea typeface="Canva Sans"/>
                <a:cs typeface="Canva Sans"/>
                <a:sym typeface="Canva Sans"/>
              </a:rPr>
              <a:t> User is in the app.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Freeform 9" id="9"/>
          <p:cNvSpPr/>
          <p:nvPr/>
        </p:nvSpPr>
        <p:spPr>
          <a:xfrm flipH="false" flipV="false" rot="0">
            <a:off x="13011007" y="1320014"/>
            <a:ext cx="3815800" cy="8797232"/>
          </a:xfrm>
          <a:custGeom>
            <a:avLst/>
            <a:gdLst/>
            <a:ahLst/>
            <a:cxnLst/>
            <a:rect r="r" b="b" t="t" l="l"/>
            <a:pathLst>
              <a:path h="8797232" w="3815800">
                <a:moveTo>
                  <a:pt x="0" y="0"/>
                </a:moveTo>
                <a:lnTo>
                  <a:pt x="3815799" y="0"/>
                </a:lnTo>
                <a:lnTo>
                  <a:pt x="3815799" y="8797232"/>
                </a:lnTo>
                <a:lnTo>
                  <a:pt x="0" y="8797232"/>
                </a:lnTo>
                <a:lnTo>
                  <a:pt x="0" y="0"/>
                </a:lnTo>
                <a:close/>
              </a:path>
            </a:pathLst>
          </a:custGeom>
          <a:blipFill>
            <a:blip r:embed="rId3"/>
            <a:stretch>
              <a:fillRect l="0" t="0" r="0" b="0"/>
            </a:stretch>
          </a:blipFill>
        </p:spPr>
      </p:sp>
      <p:sp>
        <p:nvSpPr>
          <p:cNvPr name="TextBox 10" id="10"/>
          <p:cNvSpPr txBox="true"/>
          <p:nvPr/>
        </p:nvSpPr>
        <p:spPr>
          <a:xfrm rot="0">
            <a:off x="3846581" y="1250483"/>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Methodology</a:t>
            </a:r>
            <a:r>
              <a:rPr lang="en-US" b="true" sz="5000">
                <a:solidFill>
                  <a:srgbClr val="000000"/>
                </a:solidFill>
                <a:latin typeface="Times New Roman Bold"/>
                <a:ea typeface="Times New Roman Bold"/>
                <a:cs typeface="Times New Roman Bold"/>
                <a:sym typeface="Times New Roman Bold"/>
              </a:rPr>
              <a:t> with diagrams</a:t>
            </a:r>
          </a:p>
        </p:txBody>
      </p:sp>
      <p:sp>
        <p:nvSpPr>
          <p:cNvPr name="TextBox 11" id="11"/>
          <p:cNvSpPr txBox="true"/>
          <p:nvPr/>
        </p:nvSpPr>
        <p:spPr>
          <a:xfrm rot="0">
            <a:off x="898907" y="3037213"/>
            <a:ext cx="10208882" cy="530434"/>
          </a:xfrm>
          <a:prstGeom prst="rect">
            <a:avLst/>
          </a:prstGeom>
        </p:spPr>
        <p:txBody>
          <a:bodyPr anchor="t" rtlCol="false" tIns="0" lIns="0" bIns="0" rIns="0">
            <a:spAutoFit/>
          </a:bodyPr>
          <a:lstStyle/>
          <a:p>
            <a:pPr algn="ctr">
              <a:lnSpc>
                <a:spcPts val="4363"/>
              </a:lnSpc>
            </a:pPr>
            <a:r>
              <a:rPr lang="en-US" sz="3116">
                <a:solidFill>
                  <a:srgbClr val="000000"/>
                </a:solidFill>
                <a:latin typeface="Canva Sans"/>
                <a:ea typeface="Canva Sans"/>
                <a:cs typeface="Canva Sans"/>
                <a:sym typeface="Canva Sans"/>
              </a:rPr>
              <a:t>3. Comm</a:t>
            </a:r>
            <a:r>
              <a:rPr lang="en-US" sz="3116">
                <a:solidFill>
                  <a:srgbClr val="000000"/>
                </a:solidFill>
                <a:latin typeface="Canva Sans"/>
                <a:ea typeface="Canva Sans"/>
                <a:cs typeface="Canva Sans"/>
                <a:sym typeface="Canva Sans"/>
              </a:rPr>
              <a:t>unity Contribution &amp; Admin Verification Flow</a:t>
            </a:r>
          </a:p>
        </p:txBody>
      </p:sp>
      <p:sp>
        <p:nvSpPr>
          <p:cNvPr name="TextBox 12" id="12"/>
          <p:cNvSpPr txBox="true"/>
          <p:nvPr/>
        </p:nvSpPr>
        <p:spPr>
          <a:xfrm rot="0">
            <a:off x="1028700" y="4199364"/>
            <a:ext cx="9542403" cy="5058936"/>
          </a:xfrm>
          <a:prstGeom prst="rect">
            <a:avLst/>
          </a:prstGeom>
        </p:spPr>
        <p:txBody>
          <a:bodyPr anchor="t" rtlCol="false" tIns="0" lIns="0" bIns="0" rIns="0">
            <a:spAutoFit/>
          </a:bodyPr>
          <a:lstStyle/>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User:</a:t>
            </a:r>
            <a:r>
              <a:rPr lang="en-US" sz="2204">
                <a:solidFill>
                  <a:srgbClr val="000000"/>
                </a:solidFill>
                <a:latin typeface="Canva Sans"/>
                <a:ea typeface="Canva Sans"/>
                <a:cs typeface="Canva Sans"/>
                <a:sym typeface="Canva Sans"/>
              </a:rPr>
              <a:t> A user (role: 'user')</a:t>
            </a:r>
            <a:r>
              <a:rPr lang="en-US" sz="2204">
                <a:solidFill>
                  <a:srgbClr val="000000"/>
                </a:solidFill>
                <a:latin typeface="Canva Sans"/>
                <a:ea typeface="Canva Sans"/>
                <a:cs typeface="Canva Sans"/>
                <a:sym typeface="Canva Sans"/>
              </a:rPr>
              <a:t> opens the contribute-station screen.</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App:</a:t>
            </a:r>
            <a:r>
              <a:rPr lang="en-US" sz="2204">
                <a:solidFill>
                  <a:srgbClr val="000000"/>
                </a:solidFill>
                <a:latin typeface="Canva Sans"/>
                <a:ea typeface="Canva Sans"/>
                <a:cs typeface="Canva Sans"/>
                <a:sym typeface="Canva Sans"/>
              </a:rPr>
              <a:t> The app uploads the photo(s) to Firebase Storage.</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App: </a:t>
            </a:r>
            <a:r>
              <a:rPr lang="en-US" sz="2204">
                <a:solidFill>
                  <a:srgbClr val="000000"/>
                </a:solidFill>
                <a:latin typeface="Canva Sans"/>
                <a:ea typeface="Canva Sans"/>
                <a:cs typeface="Canva Sans"/>
                <a:sym typeface="Canva Sans"/>
              </a:rPr>
              <a:t>The app creates a new document in the userContributions collection with status: 'pending'.</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Admin:</a:t>
            </a:r>
            <a:r>
              <a:rPr lang="en-US" sz="2204">
                <a:solidFill>
                  <a:srgbClr val="000000"/>
                </a:solidFill>
                <a:latin typeface="Canva Sans"/>
                <a:ea typeface="Canva Sans"/>
                <a:cs typeface="Canva Sans"/>
                <a:sym typeface="Canva Sans"/>
              </a:rPr>
              <a:t> An admin (role: 'admin') opens the admin screen and views the 'Pending' tab.</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Admin:</a:t>
            </a:r>
            <a:r>
              <a:rPr lang="en-US" sz="2204">
                <a:solidFill>
                  <a:srgbClr val="000000"/>
                </a:solidFill>
                <a:latin typeface="Canva Sans"/>
                <a:ea typeface="Canva Sans"/>
                <a:cs typeface="Canva Sans"/>
                <a:sym typeface="Canva Sans"/>
              </a:rPr>
              <a:t> The admin reviews the submission and clicks "Approve."</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App:</a:t>
            </a:r>
            <a:r>
              <a:rPr lang="en-US" sz="2204">
                <a:solidFill>
                  <a:srgbClr val="000000"/>
                </a:solidFill>
                <a:latin typeface="Canva Sans"/>
                <a:ea typeface="Canva Sans"/>
                <a:cs typeface="Canva Sans"/>
                <a:sym typeface="Canva Sans"/>
              </a:rPr>
              <a:t> The approveContribution function is triggered.</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Backend:</a:t>
            </a:r>
            <a:r>
              <a:rPr lang="en-US" sz="2204">
                <a:solidFill>
                  <a:srgbClr val="000000"/>
                </a:solidFill>
                <a:latin typeface="Canva Sans"/>
                <a:ea typeface="Canva Sans"/>
                <a:cs typeface="Canva Sans"/>
                <a:sym typeface="Canva Sans"/>
              </a:rPr>
              <a:t> This function:</a:t>
            </a:r>
          </a:p>
          <a:p>
            <a:pPr algn="l" marL="475909" indent="-237954" lvl="1">
              <a:lnSpc>
                <a:spcPts val="3086"/>
              </a:lnSpc>
              <a:buFont typeface="Arial"/>
              <a:buChar char="•"/>
            </a:pPr>
            <a:r>
              <a:rPr lang="en-US" sz="2204">
                <a:solidFill>
                  <a:srgbClr val="000000"/>
                </a:solidFill>
                <a:latin typeface="Canva Sans"/>
                <a:ea typeface="Canva Sans"/>
                <a:cs typeface="Canva Sans"/>
                <a:sym typeface="Canva Sans"/>
              </a:rPr>
              <a:t>Creates a new document in the public stations collection.</a:t>
            </a:r>
          </a:p>
          <a:p>
            <a:pPr algn="l" marL="475909" indent="-237954" lvl="1">
              <a:lnSpc>
                <a:spcPts val="3086"/>
              </a:lnSpc>
              <a:buFont typeface="Arial"/>
              <a:buChar char="•"/>
            </a:pPr>
            <a:r>
              <a:rPr lang="en-US" sz="2204">
                <a:solidFill>
                  <a:srgbClr val="000000"/>
                </a:solidFill>
                <a:latin typeface="Canva Sans"/>
                <a:ea typeface="Canva Sans"/>
                <a:cs typeface="Canva Sans"/>
                <a:sym typeface="Canva Sans"/>
              </a:rPr>
              <a:t>Updates the document in userContributions to status: 'approved'.</a:t>
            </a:r>
          </a:p>
          <a:p>
            <a:pPr algn="l" marL="475909" indent="-237954" lvl="1">
              <a:lnSpc>
                <a:spcPts val="3086"/>
              </a:lnSpc>
              <a:buAutoNum type="arabicPeriod" startAt="1"/>
            </a:pPr>
            <a:r>
              <a:rPr lang="en-US" b="true" sz="2204">
                <a:solidFill>
                  <a:srgbClr val="000000"/>
                </a:solidFill>
                <a:latin typeface="Canva Sans Bold"/>
                <a:ea typeface="Canva Sans Bold"/>
                <a:cs typeface="Canva Sans Bold"/>
                <a:sym typeface="Canva Sans Bold"/>
              </a:rPr>
              <a:t>End: </a:t>
            </a:r>
            <a:r>
              <a:rPr lang="en-US" sz="2204">
                <a:solidFill>
                  <a:srgbClr val="000000"/>
                </a:solidFill>
                <a:latin typeface="Canva Sans"/>
                <a:ea typeface="Canva Sans"/>
                <a:cs typeface="Canva Sans"/>
                <a:sym typeface="Canva Sans"/>
              </a:rPr>
              <a:t>The new station is now visible to all users on the map.</a:t>
            </a:r>
          </a:p>
          <a:p>
            <a:pPr algn="l">
              <a:lnSpc>
                <a:spcPts val="3086"/>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TextBox 9" id="9"/>
          <p:cNvSpPr txBox="true"/>
          <p:nvPr/>
        </p:nvSpPr>
        <p:spPr>
          <a:xfrm rot="0">
            <a:off x="2770464" y="3265813"/>
            <a:ext cx="14006279" cy="5694062"/>
          </a:xfrm>
          <a:prstGeom prst="rect">
            <a:avLst/>
          </a:prstGeom>
        </p:spPr>
        <p:txBody>
          <a:bodyPr anchor="t" rtlCol="false" tIns="0" lIns="0" bIns="0" rIns="0">
            <a:spAutoFit/>
          </a:bodyPr>
          <a:lstStyle/>
          <a:p>
            <a:pPr algn="l">
              <a:lnSpc>
                <a:spcPts val="4102"/>
              </a:lnSpc>
            </a:pPr>
            <a:r>
              <a:rPr lang="en-US" sz="2930">
                <a:solidFill>
                  <a:srgbClr val="000000"/>
                </a:solidFill>
                <a:latin typeface="Canva Sans"/>
                <a:ea typeface="Canva Sans"/>
                <a:cs typeface="Canva Sans"/>
                <a:sym typeface="Canva Sans"/>
              </a:rPr>
              <a:t>Real-</a:t>
            </a:r>
            <a:r>
              <a:rPr lang="en-US" sz="2930">
                <a:solidFill>
                  <a:srgbClr val="000000"/>
                </a:solidFill>
                <a:latin typeface="Canva Sans"/>
                <a:ea typeface="Canva Sans"/>
                <a:cs typeface="Canva Sans"/>
                <a:sym typeface="Canva Sans"/>
              </a:rPr>
              <a:t>time station mapping works smoothly with instant updates.</a:t>
            </a:r>
          </a:p>
          <a:p>
            <a:pPr algn="l">
              <a:lnSpc>
                <a:spcPts val="4102"/>
              </a:lnSpc>
            </a:pPr>
          </a:p>
          <a:p>
            <a:pPr algn="l">
              <a:lnSpc>
                <a:spcPts val="4102"/>
              </a:lnSpc>
            </a:pPr>
            <a:r>
              <a:rPr lang="en-US" sz="2930">
                <a:solidFill>
                  <a:srgbClr val="000000"/>
                </a:solidFill>
                <a:latin typeface="Canva Sans"/>
                <a:ea typeface="Canva Sans"/>
                <a:cs typeface="Canva Sans"/>
                <a:sym typeface="Canva Sans"/>
              </a:rPr>
              <a:t>Accurate turn-by-turn navigation using Google Directions API.</a:t>
            </a:r>
          </a:p>
          <a:p>
            <a:pPr algn="l">
              <a:lnSpc>
                <a:spcPts val="4102"/>
              </a:lnSpc>
            </a:pPr>
          </a:p>
          <a:p>
            <a:pPr algn="l">
              <a:lnSpc>
                <a:spcPts val="4102"/>
              </a:lnSpc>
            </a:pPr>
            <a:r>
              <a:rPr lang="en-US" sz="2930">
                <a:solidFill>
                  <a:srgbClr val="000000"/>
                </a:solidFill>
                <a:latin typeface="Canva Sans"/>
                <a:ea typeface="Canva Sans"/>
                <a:cs typeface="Canva Sans"/>
                <a:sym typeface="Canva Sans"/>
              </a:rPr>
              <a:t>SOS module responds quickly with nearest emergency services.</a:t>
            </a:r>
          </a:p>
          <a:p>
            <a:pPr algn="l">
              <a:lnSpc>
                <a:spcPts val="4102"/>
              </a:lnSpc>
            </a:pPr>
          </a:p>
          <a:p>
            <a:pPr algn="l">
              <a:lnSpc>
                <a:spcPts val="4102"/>
              </a:lnSpc>
            </a:pPr>
            <a:r>
              <a:rPr lang="en-US" sz="2930">
                <a:solidFill>
                  <a:srgbClr val="000000"/>
                </a:solidFill>
                <a:latin typeface="Canva Sans"/>
                <a:ea typeface="Canva Sans"/>
                <a:cs typeface="Canva Sans"/>
                <a:sym typeface="Canva Sans"/>
              </a:rPr>
              <a:t>User-added stations successfully stored &amp; verified through admin pan</a:t>
            </a:r>
            <a:r>
              <a:rPr lang="en-US" sz="2930">
                <a:solidFill>
                  <a:srgbClr val="000000"/>
                </a:solidFill>
                <a:latin typeface="Canva Sans"/>
                <a:ea typeface="Canva Sans"/>
                <a:cs typeface="Canva Sans"/>
                <a:sym typeface="Canva Sans"/>
              </a:rPr>
              <a:t>el.</a:t>
            </a:r>
          </a:p>
          <a:p>
            <a:pPr algn="l">
              <a:lnSpc>
                <a:spcPts val="4102"/>
              </a:lnSpc>
            </a:pPr>
          </a:p>
          <a:p>
            <a:pPr algn="l">
              <a:lnSpc>
                <a:spcPts val="4102"/>
              </a:lnSpc>
            </a:pPr>
            <a:r>
              <a:rPr lang="en-US" sz="2930">
                <a:solidFill>
                  <a:srgbClr val="000000"/>
                </a:solidFill>
                <a:latin typeface="Canva Sans"/>
                <a:ea typeface="Canva Sans"/>
                <a:cs typeface="Canva Sans"/>
                <a:sym typeface="Canva Sans"/>
              </a:rPr>
              <a:t>Fast data sync using Firebase (low latency, real-time listeners).</a:t>
            </a:r>
          </a:p>
          <a:p>
            <a:pPr algn="l">
              <a:lnSpc>
                <a:spcPts val="4102"/>
              </a:lnSpc>
            </a:pPr>
          </a:p>
          <a:p>
            <a:pPr algn="l">
              <a:lnSpc>
                <a:spcPts val="4102"/>
              </a:lnSpc>
            </a:pPr>
            <a:r>
              <a:rPr lang="en-US" sz="2930">
                <a:solidFill>
                  <a:srgbClr val="000000"/>
                </a:solidFill>
                <a:latin typeface="Canva Sans"/>
                <a:ea typeface="Canva Sans"/>
                <a:cs typeface="Canva Sans"/>
                <a:sym typeface="Canva Sans"/>
              </a:rPr>
              <a:t>Stable prototype tested o</a:t>
            </a:r>
            <a:r>
              <a:rPr lang="en-US" sz="2930">
                <a:solidFill>
                  <a:srgbClr val="000000"/>
                </a:solidFill>
                <a:latin typeface="Canva Sans"/>
                <a:ea typeface="Canva Sans"/>
                <a:cs typeface="Canva Sans"/>
                <a:sym typeface="Canva Sans"/>
              </a:rPr>
              <a:t>n real device with consistent performance.</a:t>
            </a:r>
          </a:p>
        </p:txBody>
      </p:sp>
      <p:sp>
        <p:nvSpPr>
          <p:cNvPr name="Freeform 10" id="10"/>
          <p:cNvSpPr/>
          <p:nvPr/>
        </p:nvSpPr>
        <p:spPr>
          <a:xfrm flipH="false" flipV="false" rot="0">
            <a:off x="2031341" y="3322963"/>
            <a:ext cx="498453" cy="431785"/>
          </a:xfrm>
          <a:custGeom>
            <a:avLst/>
            <a:gdLst/>
            <a:ahLst/>
            <a:cxnLst/>
            <a:rect r="r" b="b" t="t" l="l"/>
            <a:pathLst>
              <a:path h="431785" w="498453">
                <a:moveTo>
                  <a:pt x="0" y="0"/>
                </a:moveTo>
                <a:lnTo>
                  <a:pt x="498453" y="0"/>
                </a:lnTo>
                <a:lnTo>
                  <a:pt x="498453" y="431786"/>
                </a:lnTo>
                <a:lnTo>
                  <a:pt x="0" y="431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743504"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Results</a:t>
            </a:r>
          </a:p>
        </p:txBody>
      </p:sp>
      <p:sp>
        <p:nvSpPr>
          <p:cNvPr name="Freeform 12" id="12"/>
          <p:cNvSpPr/>
          <p:nvPr/>
        </p:nvSpPr>
        <p:spPr>
          <a:xfrm flipH="false" flipV="false" rot="0">
            <a:off x="2031341" y="4382445"/>
            <a:ext cx="498453" cy="431785"/>
          </a:xfrm>
          <a:custGeom>
            <a:avLst/>
            <a:gdLst/>
            <a:ahLst/>
            <a:cxnLst/>
            <a:rect r="r" b="b" t="t" l="l"/>
            <a:pathLst>
              <a:path h="431785" w="498453">
                <a:moveTo>
                  <a:pt x="0" y="0"/>
                </a:moveTo>
                <a:lnTo>
                  <a:pt x="498453" y="0"/>
                </a:lnTo>
                <a:lnTo>
                  <a:pt x="498453" y="431785"/>
                </a:lnTo>
                <a:lnTo>
                  <a:pt x="0" y="431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031341" y="5441926"/>
            <a:ext cx="498453" cy="431785"/>
          </a:xfrm>
          <a:custGeom>
            <a:avLst/>
            <a:gdLst/>
            <a:ahLst/>
            <a:cxnLst/>
            <a:rect r="r" b="b" t="t" l="l"/>
            <a:pathLst>
              <a:path h="431785" w="498453">
                <a:moveTo>
                  <a:pt x="0" y="0"/>
                </a:moveTo>
                <a:lnTo>
                  <a:pt x="498453" y="0"/>
                </a:lnTo>
                <a:lnTo>
                  <a:pt x="498453" y="431786"/>
                </a:lnTo>
                <a:lnTo>
                  <a:pt x="0" y="431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031341" y="6501408"/>
            <a:ext cx="498453" cy="431785"/>
          </a:xfrm>
          <a:custGeom>
            <a:avLst/>
            <a:gdLst/>
            <a:ahLst/>
            <a:cxnLst/>
            <a:rect r="r" b="b" t="t" l="l"/>
            <a:pathLst>
              <a:path h="431785" w="498453">
                <a:moveTo>
                  <a:pt x="0" y="0"/>
                </a:moveTo>
                <a:lnTo>
                  <a:pt x="498453" y="0"/>
                </a:lnTo>
                <a:lnTo>
                  <a:pt x="498453" y="431785"/>
                </a:lnTo>
                <a:lnTo>
                  <a:pt x="0" y="431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031341" y="7503739"/>
            <a:ext cx="498453" cy="431785"/>
          </a:xfrm>
          <a:custGeom>
            <a:avLst/>
            <a:gdLst/>
            <a:ahLst/>
            <a:cxnLst/>
            <a:rect r="r" b="b" t="t" l="l"/>
            <a:pathLst>
              <a:path h="431785" w="498453">
                <a:moveTo>
                  <a:pt x="0" y="0"/>
                </a:moveTo>
                <a:lnTo>
                  <a:pt x="498453" y="0"/>
                </a:lnTo>
                <a:lnTo>
                  <a:pt x="498453" y="431786"/>
                </a:lnTo>
                <a:lnTo>
                  <a:pt x="0" y="431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2031341" y="8537616"/>
            <a:ext cx="498453" cy="431785"/>
          </a:xfrm>
          <a:custGeom>
            <a:avLst/>
            <a:gdLst/>
            <a:ahLst/>
            <a:cxnLst/>
            <a:rect r="r" b="b" t="t" l="l"/>
            <a:pathLst>
              <a:path h="431785" w="498453">
                <a:moveTo>
                  <a:pt x="0" y="0"/>
                </a:moveTo>
                <a:lnTo>
                  <a:pt x="498453" y="0"/>
                </a:lnTo>
                <a:lnTo>
                  <a:pt x="498453" y="431785"/>
                </a:lnTo>
                <a:lnTo>
                  <a:pt x="0" y="431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10094142"/>
            <a:ext cx="18307050" cy="199031"/>
            <a:chOff x="0" y="0"/>
            <a:chExt cx="24409400" cy="265374"/>
          </a:xfrm>
        </p:grpSpPr>
        <p:sp>
          <p:nvSpPr>
            <p:cNvPr name="Freeform 3" id="3"/>
            <p:cNvSpPr/>
            <p:nvPr/>
          </p:nvSpPr>
          <p:spPr>
            <a:xfrm flipH="false" flipV="false" rot="0">
              <a:off x="12700" y="1270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sp>
          <p:nvSpPr>
            <p:cNvPr name="Freeform 4" id="4"/>
            <p:cNvSpPr/>
            <p:nvPr/>
          </p:nvSpPr>
          <p:spPr>
            <a:xfrm flipH="false" flipV="false" rot="0">
              <a:off x="0" y="0"/>
              <a:ext cx="24409400" cy="265430"/>
            </a:xfrm>
            <a:custGeom>
              <a:avLst/>
              <a:gdLst/>
              <a:ahLst/>
              <a:cxnLst/>
              <a:rect r="r" b="b" t="t" l="l"/>
              <a:pathLst>
                <a:path h="265430" w="24409400">
                  <a:moveTo>
                    <a:pt x="12700" y="0"/>
                  </a:moveTo>
                  <a:lnTo>
                    <a:pt x="24396700" y="0"/>
                  </a:lnTo>
                  <a:cubicBezTo>
                    <a:pt x="24403686" y="0"/>
                    <a:pt x="24409400" y="5715"/>
                    <a:pt x="24409400" y="12700"/>
                  </a:cubicBezTo>
                  <a:lnTo>
                    <a:pt x="24409400" y="252730"/>
                  </a:lnTo>
                  <a:cubicBezTo>
                    <a:pt x="24409400" y="259715"/>
                    <a:pt x="24403686" y="265430"/>
                    <a:pt x="24396700" y="265430"/>
                  </a:cubicBezTo>
                  <a:lnTo>
                    <a:pt x="12700" y="265430"/>
                  </a:lnTo>
                  <a:cubicBezTo>
                    <a:pt x="5715" y="265430"/>
                    <a:pt x="0" y="259715"/>
                    <a:pt x="0" y="252730"/>
                  </a:cubicBezTo>
                  <a:lnTo>
                    <a:pt x="0" y="12700"/>
                  </a:lnTo>
                  <a:cubicBezTo>
                    <a:pt x="0" y="5715"/>
                    <a:pt x="5715" y="0"/>
                    <a:pt x="12700" y="0"/>
                  </a:cubicBezTo>
                  <a:moveTo>
                    <a:pt x="12700" y="25400"/>
                  </a:moveTo>
                  <a:lnTo>
                    <a:pt x="12700" y="12700"/>
                  </a:lnTo>
                  <a:lnTo>
                    <a:pt x="25400" y="12700"/>
                  </a:lnTo>
                  <a:lnTo>
                    <a:pt x="25400" y="252730"/>
                  </a:lnTo>
                  <a:lnTo>
                    <a:pt x="12700" y="252730"/>
                  </a:lnTo>
                  <a:lnTo>
                    <a:pt x="12700" y="240030"/>
                  </a:lnTo>
                  <a:lnTo>
                    <a:pt x="24396700" y="240030"/>
                  </a:lnTo>
                  <a:lnTo>
                    <a:pt x="24396700" y="252730"/>
                  </a:lnTo>
                  <a:lnTo>
                    <a:pt x="24384000" y="252730"/>
                  </a:lnTo>
                  <a:lnTo>
                    <a:pt x="24384000" y="12700"/>
                  </a:lnTo>
                  <a:lnTo>
                    <a:pt x="24396700" y="12700"/>
                  </a:lnTo>
                  <a:lnTo>
                    <a:pt x="24396700" y="25400"/>
                  </a:lnTo>
                  <a:lnTo>
                    <a:pt x="12700" y="25400"/>
                  </a:lnTo>
                  <a:close/>
                </a:path>
              </a:pathLst>
            </a:custGeom>
            <a:solidFill>
              <a:srgbClr val="41719C"/>
            </a:solidFill>
          </p:spPr>
        </p:sp>
      </p:grpSp>
      <p:grpSp>
        <p:nvGrpSpPr>
          <p:cNvPr name="Group 5" id="5"/>
          <p:cNvGrpSpPr/>
          <p:nvPr/>
        </p:nvGrpSpPr>
        <p:grpSpPr>
          <a:xfrm rot="0">
            <a:off x="-9525" y="-9525"/>
            <a:ext cx="18307050" cy="1159786"/>
            <a:chOff x="0" y="0"/>
            <a:chExt cx="24409400" cy="1546382"/>
          </a:xfrm>
        </p:grpSpPr>
        <p:sp>
          <p:nvSpPr>
            <p:cNvPr name="Freeform 6" id="6"/>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7" id="7"/>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8" id="8"/>
          <p:cNvGrpSpPr>
            <a:grpSpLocks noChangeAspect="true"/>
          </p:cNvGrpSpPr>
          <p:nvPr/>
        </p:nvGrpSpPr>
        <p:grpSpPr>
          <a:xfrm rot="0">
            <a:off x="0" y="385834"/>
            <a:ext cx="3571591" cy="1718842"/>
            <a:chOff x="0" y="0"/>
            <a:chExt cx="4762122" cy="2291790"/>
          </a:xfrm>
        </p:grpSpPr>
        <p:sp>
          <p:nvSpPr>
            <p:cNvPr name="Freeform 9" id="9"/>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sp>
        <p:nvSpPr>
          <p:cNvPr name="TextBox 10" id="10"/>
          <p:cNvSpPr txBox="true"/>
          <p:nvPr/>
        </p:nvSpPr>
        <p:spPr>
          <a:xfrm rot="0">
            <a:off x="569746" y="2310268"/>
            <a:ext cx="7967022" cy="2956560"/>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Canva Sans Bold"/>
                <a:ea typeface="Canva Sans Bold"/>
                <a:cs typeface="Canva Sans Bold"/>
                <a:sym typeface="Canva Sans Bold"/>
              </a:rPr>
              <a:t>Algorithms &amp; Techniques Used</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Firebase Authentication with secure email verification</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Firestore NoSQL database for users, stations, contributions, SOS</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Google Maps Directions API for routing &amp; polylines</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Haversine distance formula for accurate distance calculation</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Firebase Storage for image upload and URL linking</a:t>
            </a:r>
          </a:p>
        </p:txBody>
      </p:sp>
      <p:sp>
        <p:nvSpPr>
          <p:cNvPr name="TextBox 11" id="11"/>
          <p:cNvSpPr txBox="true"/>
          <p:nvPr/>
        </p:nvSpPr>
        <p:spPr>
          <a:xfrm rot="0">
            <a:off x="522267" y="5874001"/>
            <a:ext cx="8061980" cy="2213610"/>
          </a:xfrm>
          <a:prstGeom prst="rect">
            <a:avLst/>
          </a:prstGeom>
        </p:spPr>
        <p:txBody>
          <a:bodyPr anchor="t" rtlCol="false" tIns="0" lIns="0" bIns="0" rIns="0">
            <a:spAutoFit/>
          </a:bodyPr>
          <a:lstStyle/>
          <a:p>
            <a:pPr algn="l">
              <a:lnSpc>
                <a:spcPts val="2939"/>
              </a:lnSpc>
            </a:pPr>
            <a:r>
              <a:rPr lang="en-US" sz="2099" b="true">
                <a:solidFill>
                  <a:srgbClr val="000000"/>
                </a:solidFill>
                <a:latin typeface="Canva Sans Bold"/>
                <a:ea typeface="Canva Sans Bold"/>
                <a:cs typeface="Canva Sans Bold"/>
                <a:sym typeface="Canva Sans Bold"/>
              </a:rPr>
              <a:t>S</a:t>
            </a:r>
            <a:r>
              <a:rPr lang="en-US" b="true" sz="2099">
                <a:solidFill>
                  <a:srgbClr val="000000"/>
                </a:solidFill>
                <a:latin typeface="Canva Sans Bold"/>
                <a:ea typeface="Canva Sans Bold"/>
                <a:cs typeface="Canva Sans Bold"/>
                <a:sym typeface="Canva Sans Bold"/>
              </a:rPr>
              <a:t>trong Mod</a:t>
            </a:r>
            <a:r>
              <a:rPr lang="en-US" b="true" sz="2099">
                <a:solidFill>
                  <a:srgbClr val="000000"/>
                </a:solidFill>
                <a:latin typeface="Canva Sans Bold"/>
                <a:ea typeface="Canva Sans Bold"/>
                <a:cs typeface="Canva Sans Bold"/>
                <a:sym typeface="Canva Sans Bold"/>
              </a:rPr>
              <a:t>ule Integration</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Auth → Profile → Home → Navigation flow works smoothly</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Vehicle data integrated with SOC tracking during routing</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User contributions flow into Admin approval → then appear on Home map</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Real-time updates shared across all modules</a:t>
            </a:r>
          </a:p>
        </p:txBody>
      </p:sp>
      <p:sp>
        <p:nvSpPr>
          <p:cNvPr name="TextBox 12" id="12"/>
          <p:cNvSpPr txBox="true"/>
          <p:nvPr/>
        </p:nvSpPr>
        <p:spPr>
          <a:xfrm rot="0">
            <a:off x="9632337" y="2310268"/>
            <a:ext cx="8061980" cy="2213610"/>
          </a:xfrm>
          <a:prstGeom prst="rect">
            <a:avLst/>
          </a:prstGeom>
        </p:spPr>
        <p:txBody>
          <a:bodyPr anchor="t" rtlCol="false" tIns="0" lIns="0" bIns="0" rIns="0">
            <a:spAutoFit/>
          </a:bodyPr>
          <a:lstStyle/>
          <a:p>
            <a:pPr algn="l">
              <a:lnSpc>
                <a:spcPts val="2939"/>
              </a:lnSpc>
            </a:pPr>
            <a:r>
              <a:rPr lang="en-US" b="true" sz="2099">
                <a:solidFill>
                  <a:srgbClr val="000000"/>
                </a:solidFill>
                <a:latin typeface="Canva Sans Bold"/>
                <a:ea typeface="Canva Sans Bold"/>
                <a:cs typeface="Canva Sans Bold"/>
                <a:sym typeface="Canva Sans Bold"/>
              </a:rPr>
              <a:t>Accu</a:t>
            </a:r>
            <a:r>
              <a:rPr lang="en-US" b="true" sz="2099">
                <a:solidFill>
                  <a:srgbClr val="000000"/>
                </a:solidFill>
                <a:latin typeface="Canva Sans Bold"/>
                <a:ea typeface="Canva Sans Bold"/>
                <a:cs typeface="Canva Sans Bold"/>
                <a:sym typeface="Canva Sans Bold"/>
              </a:rPr>
              <a:t>rate System Functionality</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Role-based access: Only admins can open admin panel</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SOS filtering based on problem type (battery, towing, repair)</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Real-time GPS tracking and map updates</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Precise station mapping using GeoPoints</a:t>
            </a:r>
          </a:p>
        </p:txBody>
      </p:sp>
      <p:sp>
        <p:nvSpPr>
          <p:cNvPr name="TextBox 13" id="13"/>
          <p:cNvSpPr txBox="true"/>
          <p:nvPr/>
        </p:nvSpPr>
        <p:spPr>
          <a:xfrm rot="0">
            <a:off x="9632337" y="5874001"/>
            <a:ext cx="8061980" cy="2585085"/>
          </a:xfrm>
          <a:prstGeom prst="rect">
            <a:avLst/>
          </a:prstGeom>
        </p:spPr>
        <p:txBody>
          <a:bodyPr anchor="t" rtlCol="false" tIns="0" lIns="0" bIns="0" rIns="0">
            <a:spAutoFit/>
          </a:bodyPr>
          <a:lstStyle/>
          <a:p>
            <a:pPr algn="l">
              <a:lnSpc>
                <a:spcPts val="2939"/>
              </a:lnSpc>
            </a:pPr>
            <a:r>
              <a:rPr lang="en-US" sz="2099" b="true">
                <a:solidFill>
                  <a:srgbClr val="000000"/>
                </a:solidFill>
                <a:latin typeface="Canva Sans Bold"/>
                <a:ea typeface="Canva Sans Bold"/>
                <a:cs typeface="Canva Sans Bold"/>
                <a:sym typeface="Canva Sans Bold"/>
              </a:rPr>
              <a:t>Obje</a:t>
            </a:r>
            <a:r>
              <a:rPr lang="en-US" b="true" sz="2099">
                <a:solidFill>
                  <a:srgbClr val="000000"/>
                </a:solidFill>
                <a:latin typeface="Canva Sans Bold"/>
                <a:ea typeface="Canva Sans Bold"/>
                <a:cs typeface="Canva Sans Bold"/>
                <a:sym typeface="Canva Sans Bold"/>
              </a:rPr>
              <a:t>c</a:t>
            </a:r>
            <a:r>
              <a:rPr lang="en-US" b="true" sz="2099">
                <a:solidFill>
                  <a:srgbClr val="000000"/>
                </a:solidFill>
                <a:latin typeface="Canva Sans Bold"/>
                <a:ea typeface="Canva Sans Bold"/>
                <a:cs typeface="Canva Sans Bold"/>
                <a:sym typeface="Canva Sans Bold"/>
              </a:rPr>
              <a:t>tives Successfully Achieved</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Secure authentication &amp; profile management</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Real-time EV station discovery &amp; navigation</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Emergency SOS support</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Vehicle-based personalization (range, SOC)</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Community contribution of stations</a:t>
            </a:r>
          </a:p>
          <a:p>
            <a:pPr algn="l" marL="453387" indent="-226693" lvl="1">
              <a:lnSpc>
                <a:spcPts val="2939"/>
              </a:lnSpc>
              <a:buAutoNum type="arabicPeriod" startAt="1"/>
            </a:pPr>
            <a:r>
              <a:rPr lang="en-US" sz="2099">
                <a:solidFill>
                  <a:srgbClr val="000000"/>
                </a:solidFill>
                <a:latin typeface="Canva Sans"/>
                <a:ea typeface="Canva Sans"/>
                <a:cs typeface="Canva Sans"/>
                <a:sym typeface="Canva Sans"/>
              </a:rPr>
              <a:t>Admin dashboard for verification</a:t>
            </a:r>
          </a:p>
        </p:txBody>
      </p:sp>
      <p:sp>
        <p:nvSpPr>
          <p:cNvPr name="TextBox 14" id="14"/>
          <p:cNvSpPr txBox="true"/>
          <p:nvPr/>
        </p:nvSpPr>
        <p:spPr>
          <a:xfrm rot="0">
            <a:off x="3904506" y="319159"/>
            <a:ext cx="13050686" cy="1228886"/>
          </a:xfrm>
          <a:prstGeom prst="rect">
            <a:avLst/>
          </a:prstGeom>
        </p:spPr>
        <p:txBody>
          <a:bodyPr anchor="t" rtlCol="false" tIns="0" lIns="0" bIns="0" rIns="0">
            <a:spAutoFit/>
          </a:bodyPr>
          <a:lstStyle/>
          <a:p>
            <a:pPr algn="ctr">
              <a:lnSpc>
                <a:spcPts val="4940"/>
              </a:lnSpc>
            </a:pPr>
            <a:r>
              <a:rPr lang="en-US" sz="3528" b="true">
                <a:solidFill>
                  <a:srgbClr val="FFFFFF"/>
                </a:solidFill>
                <a:latin typeface="Canva Sans Bold"/>
                <a:ea typeface="Canva Sans Bold"/>
                <a:cs typeface="Canva Sans Bold"/>
                <a:sym typeface="Canva Sans Bold"/>
              </a:rPr>
              <a:t>Technical Implementation, Module Integration, and System Accuracy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159786"/>
            <a:chOff x="0" y="0"/>
            <a:chExt cx="24409400" cy="1546382"/>
          </a:xfrm>
        </p:grpSpPr>
        <p:sp>
          <p:nvSpPr>
            <p:cNvPr name="Freeform 3" id="3"/>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4" id="4"/>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5" id="5"/>
          <p:cNvGrpSpPr>
            <a:grpSpLocks noChangeAspect="true"/>
          </p:cNvGrpSpPr>
          <p:nvPr/>
        </p:nvGrpSpPr>
        <p:grpSpPr>
          <a:xfrm rot="0">
            <a:off x="0" y="1137396"/>
            <a:ext cx="3571591" cy="1718842"/>
            <a:chOff x="0" y="0"/>
            <a:chExt cx="4762122" cy="2291790"/>
          </a:xfrm>
        </p:grpSpPr>
        <p:sp>
          <p:nvSpPr>
            <p:cNvPr name="Freeform 6" id="6"/>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grpSp>
        <p:nvGrpSpPr>
          <p:cNvPr name="Group 7" id="7"/>
          <p:cNvGrpSpPr/>
          <p:nvPr/>
        </p:nvGrpSpPr>
        <p:grpSpPr>
          <a:xfrm rot="0">
            <a:off x="0" y="10117246"/>
            <a:ext cx="18288000" cy="179981"/>
            <a:chOff x="0" y="0"/>
            <a:chExt cx="24384000" cy="239974"/>
          </a:xfrm>
        </p:grpSpPr>
        <p:sp>
          <p:nvSpPr>
            <p:cNvPr name="Freeform 8" id="8"/>
            <p:cNvSpPr/>
            <p:nvPr/>
          </p:nvSpPr>
          <p:spPr>
            <a:xfrm flipH="false" flipV="false" rot="0">
              <a:off x="0" y="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grpSp>
      <p:sp>
        <p:nvSpPr>
          <p:cNvPr name="TextBox 9" id="9"/>
          <p:cNvSpPr txBox="true"/>
          <p:nvPr/>
        </p:nvSpPr>
        <p:spPr>
          <a:xfrm rot="0">
            <a:off x="3299439" y="1484055"/>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Conclusion</a:t>
            </a:r>
          </a:p>
        </p:txBody>
      </p:sp>
      <p:sp>
        <p:nvSpPr>
          <p:cNvPr name="TextBox 10" id="10"/>
          <p:cNvSpPr txBox="true"/>
          <p:nvPr/>
        </p:nvSpPr>
        <p:spPr>
          <a:xfrm rot="0">
            <a:off x="2310510" y="2666387"/>
            <a:ext cx="14555110" cy="2853632"/>
          </a:xfrm>
          <a:prstGeom prst="rect">
            <a:avLst/>
          </a:prstGeom>
        </p:spPr>
        <p:txBody>
          <a:bodyPr anchor="t" rtlCol="false" tIns="0" lIns="0" bIns="0" rIns="0">
            <a:spAutoFit/>
          </a:bodyPr>
          <a:lstStyle/>
          <a:p>
            <a:pPr algn="l">
              <a:lnSpc>
                <a:spcPts val="3776"/>
              </a:lnSpc>
            </a:pPr>
            <a:r>
              <a:rPr lang="en-US" sz="2697">
                <a:solidFill>
                  <a:srgbClr val="000000"/>
                </a:solidFill>
                <a:latin typeface="Canva Sans"/>
                <a:ea typeface="Canva Sans"/>
                <a:cs typeface="Canva Sans"/>
                <a:sym typeface="Canva Sans"/>
              </a:rPr>
              <a:t>The project </a:t>
            </a:r>
            <a:r>
              <a:rPr lang="en-US" sz="2697">
                <a:solidFill>
                  <a:srgbClr val="000000"/>
                </a:solidFill>
                <a:latin typeface="Canva Sans"/>
                <a:ea typeface="Canva Sans"/>
                <a:cs typeface="Canva Sans"/>
                <a:sym typeface="Canva Sans"/>
              </a:rPr>
              <a:t>delivers a unified platform that supports EV users with real-time charging station discovery, smart navigation, and emergency assistance. By combining cloud technologies, accurate mapping, and user contributions with admin verification, the system reduces range anxiety, improves safety, and maintains reliable station data. The prototype performs smoothly across devices and provides a scalable foundation for future enhancements in the EV ecosystem.</a:t>
            </a:r>
          </a:p>
        </p:txBody>
      </p:sp>
      <p:sp>
        <p:nvSpPr>
          <p:cNvPr name="TextBox 11" id="11"/>
          <p:cNvSpPr txBox="true"/>
          <p:nvPr/>
        </p:nvSpPr>
        <p:spPr>
          <a:xfrm rot="0">
            <a:off x="3571591" y="5605876"/>
            <a:ext cx="11689121" cy="8921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 Future Work</a:t>
            </a:r>
          </a:p>
        </p:txBody>
      </p:sp>
      <p:sp>
        <p:nvSpPr>
          <p:cNvPr name="TextBox 12" id="12"/>
          <p:cNvSpPr txBox="true"/>
          <p:nvPr/>
        </p:nvSpPr>
        <p:spPr>
          <a:xfrm rot="0">
            <a:off x="2966463" y="6783801"/>
            <a:ext cx="12022098" cy="2846126"/>
          </a:xfrm>
          <a:prstGeom prst="rect">
            <a:avLst/>
          </a:prstGeom>
        </p:spPr>
        <p:txBody>
          <a:bodyPr anchor="t" rtlCol="false" tIns="0" lIns="0" bIns="0" rIns="0">
            <a:spAutoFit/>
          </a:bodyPr>
          <a:lstStyle/>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Integrate </a:t>
            </a:r>
            <a:r>
              <a:rPr lang="en-US" sz="2697">
                <a:solidFill>
                  <a:srgbClr val="000000"/>
                </a:solidFill>
                <a:latin typeface="Canva Sans"/>
                <a:ea typeface="Canva Sans"/>
                <a:cs typeface="Canva Sans"/>
                <a:sym typeface="Canva Sans"/>
              </a:rPr>
              <a:t>live charger availability using IoT sensors.</a:t>
            </a:r>
          </a:p>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Add predictive routing based on SoC, traffic, and region.</a:t>
            </a:r>
          </a:p>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Enable in-app payments for charging sessions.</a:t>
            </a:r>
          </a:p>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Introduce crowdsourced issue reporting (broken chargers, wait times)</a:t>
            </a:r>
          </a:p>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Build AI-based station recommendations and route optimization.</a:t>
            </a:r>
          </a:p>
          <a:p>
            <a:pPr algn="l" marL="582454" indent="-291227" lvl="1">
              <a:lnSpc>
                <a:spcPts val="3776"/>
              </a:lnSpc>
              <a:buFont typeface="Arial"/>
              <a:buChar char="•"/>
            </a:pPr>
            <a:r>
              <a:rPr lang="en-US" sz="2697">
                <a:solidFill>
                  <a:srgbClr val="000000"/>
                </a:solidFill>
                <a:latin typeface="Canva Sans"/>
                <a:ea typeface="Canva Sans"/>
                <a:cs typeface="Canva Sans"/>
                <a:sym typeface="Canva Sans"/>
              </a:rPr>
              <a:t>Expand coverage with more verified stations and partners.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10094142"/>
            <a:ext cx="18307050" cy="199031"/>
            <a:chOff x="0" y="0"/>
            <a:chExt cx="24409400" cy="265374"/>
          </a:xfrm>
        </p:grpSpPr>
        <p:sp>
          <p:nvSpPr>
            <p:cNvPr name="Freeform 3" id="3"/>
            <p:cNvSpPr/>
            <p:nvPr/>
          </p:nvSpPr>
          <p:spPr>
            <a:xfrm flipH="false" flipV="false" rot="0">
              <a:off x="12700" y="12700"/>
              <a:ext cx="24384000" cy="240030"/>
            </a:xfrm>
            <a:custGeom>
              <a:avLst/>
              <a:gdLst/>
              <a:ahLst/>
              <a:cxnLst/>
              <a:rect r="r" b="b" t="t" l="l"/>
              <a:pathLst>
                <a:path h="240030" w="24384000">
                  <a:moveTo>
                    <a:pt x="0" y="0"/>
                  </a:moveTo>
                  <a:lnTo>
                    <a:pt x="24384000" y="0"/>
                  </a:lnTo>
                  <a:lnTo>
                    <a:pt x="24384000" y="240030"/>
                  </a:lnTo>
                  <a:lnTo>
                    <a:pt x="0" y="240030"/>
                  </a:lnTo>
                  <a:close/>
                </a:path>
              </a:pathLst>
            </a:custGeom>
            <a:solidFill>
              <a:srgbClr val="C00000"/>
            </a:solidFill>
          </p:spPr>
        </p:sp>
        <p:sp>
          <p:nvSpPr>
            <p:cNvPr name="Freeform 4" id="4"/>
            <p:cNvSpPr/>
            <p:nvPr/>
          </p:nvSpPr>
          <p:spPr>
            <a:xfrm flipH="false" flipV="false" rot="0">
              <a:off x="0" y="0"/>
              <a:ext cx="24409400" cy="265430"/>
            </a:xfrm>
            <a:custGeom>
              <a:avLst/>
              <a:gdLst/>
              <a:ahLst/>
              <a:cxnLst/>
              <a:rect r="r" b="b" t="t" l="l"/>
              <a:pathLst>
                <a:path h="265430" w="24409400">
                  <a:moveTo>
                    <a:pt x="12700" y="0"/>
                  </a:moveTo>
                  <a:lnTo>
                    <a:pt x="24396700" y="0"/>
                  </a:lnTo>
                  <a:cubicBezTo>
                    <a:pt x="24403686" y="0"/>
                    <a:pt x="24409400" y="5715"/>
                    <a:pt x="24409400" y="12700"/>
                  </a:cubicBezTo>
                  <a:lnTo>
                    <a:pt x="24409400" y="252730"/>
                  </a:lnTo>
                  <a:cubicBezTo>
                    <a:pt x="24409400" y="259715"/>
                    <a:pt x="24403686" y="265430"/>
                    <a:pt x="24396700" y="265430"/>
                  </a:cubicBezTo>
                  <a:lnTo>
                    <a:pt x="12700" y="265430"/>
                  </a:lnTo>
                  <a:cubicBezTo>
                    <a:pt x="5715" y="265430"/>
                    <a:pt x="0" y="259715"/>
                    <a:pt x="0" y="252730"/>
                  </a:cubicBezTo>
                  <a:lnTo>
                    <a:pt x="0" y="12700"/>
                  </a:lnTo>
                  <a:cubicBezTo>
                    <a:pt x="0" y="5715"/>
                    <a:pt x="5715" y="0"/>
                    <a:pt x="12700" y="0"/>
                  </a:cubicBezTo>
                  <a:moveTo>
                    <a:pt x="12700" y="25400"/>
                  </a:moveTo>
                  <a:lnTo>
                    <a:pt x="12700" y="12700"/>
                  </a:lnTo>
                  <a:lnTo>
                    <a:pt x="25400" y="12700"/>
                  </a:lnTo>
                  <a:lnTo>
                    <a:pt x="25400" y="252730"/>
                  </a:lnTo>
                  <a:lnTo>
                    <a:pt x="12700" y="252730"/>
                  </a:lnTo>
                  <a:lnTo>
                    <a:pt x="12700" y="240030"/>
                  </a:lnTo>
                  <a:lnTo>
                    <a:pt x="24396700" y="240030"/>
                  </a:lnTo>
                  <a:lnTo>
                    <a:pt x="24396700" y="252730"/>
                  </a:lnTo>
                  <a:lnTo>
                    <a:pt x="24384000" y="252730"/>
                  </a:lnTo>
                  <a:lnTo>
                    <a:pt x="24384000" y="12700"/>
                  </a:lnTo>
                  <a:lnTo>
                    <a:pt x="24396700" y="12700"/>
                  </a:lnTo>
                  <a:lnTo>
                    <a:pt x="24396700" y="25400"/>
                  </a:lnTo>
                  <a:lnTo>
                    <a:pt x="12700" y="25400"/>
                  </a:lnTo>
                  <a:close/>
                </a:path>
              </a:pathLst>
            </a:custGeom>
            <a:solidFill>
              <a:srgbClr val="41719C"/>
            </a:solidFill>
          </p:spPr>
        </p:sp>
      </p:grpSp>
      <p:grpSp>
        <p:nvGrpSpPr>
          <p:cNvPr name="Group 5" id="5"/>
          <p:cNvGrpSpPr/>
          <p:nvPr/>
        </p:nvGrpSpPr>
        <p:grpSpPr>
          <a:xfrm rot="0">
            <a:off x="-9525" y="-9525"/>
            <a:ext cx="18307050" cy="1159786"/>
            <a:chOff x="0" y="0"/>
            <a:chExt cx="24409400" cy="1546382"/>
          </a:xfrm>
        </p:grpSpPr>
        <p:sp>
          <p:nvSpPr>
            <p:cNvPr name="Freeform 6" id="6"/>
            <p:cNvSpPr/>
            <p:nvPr/>
          </p:nvSpPr>
          <p:spPr>
            <a:xfrm flipH="false" flipV="false" rot="0">
              <a:off x="12700" y="12700"/>
              <a:ext cx="24384000" cy="1520952"/>
            </a:xfrm>
            <a:custGeom>
              <a:avLst/>
              <a:gdLst/>
              <a:ahLst/>
              <a:cxnLst/>
              <a:rect r="r" b="b" t="t" l="l"/>
              <a:pathLst>
                <a:path h="1520952" w="24384000">
                  <a:moveTo>
                    <a:pt x="0" y="0"/>
                  </a:moveTo>
                  <a:lnTo>
                    <a:pt x="24384000" y="0"/>
                  </a:lnTo>
                  <a:lnTo>
                    <a:pt x="24384000" y="1520952"/>
                  </a:lnTo>
                  <a:lnTo>
                    <a:pt x="0" y="1520952"/>
                  </a:lnTo>
                  <a:close/>
                </a:path>
              </a:pathLst>
            </a:custGeom>
            <a:solidFill>
              <a:srgbClr val="C00000"/>
            </a:solidFill>
          </p:spPr>
        </p:sp>
        <p:sp>
          <p:nvSpPr>
            <p:cNvPr name="Freeform 7" id="7"/>
            <p:cNvSpPr/>
            <p:nvPr/>
          </p:nvSpPr>
          <p:spPr>
            <a:xfrm flipH="false" flipV="false" rot="0">
              <a:off x="0" y="0"/>
              <a:ext cx="24409400" cy="1546352"/>
            </a:xfrm>
            <a:custGeom>
              <a:avLst/>
              <a:gdLst/>
              <a:ahLst/>
              <a:cxnLst/>
              <a:rect r="r" b="b" t="t" l="l"/>
              <a:pathLst>
                <a:path h="1546352" w="24409400">
                  <a:moveTo>
                    <a:pt x="12700" y="0"/>
                  </a:moveTo>
                  <a:lnTo>
                    <a:pt x="24396700" y="0"/>
                  </a:lnTo>
                  <a:cubicBezTo>
                    <a:pt x="24403686" y="0"/>
                    <a:pt x="24409400" y="5715"/>
                    <a:pt x="24409400" y="12700"/>
                  </a:cubicBezTo>
                  <a:lnTo>
                    <a:pt x="24409400" y="1533652"/>
                  </a:lnTo>
                  <a:cubicBezTo>
                    <a:pt x="24409400" y="1540637"/>
                    <a:pt x="24403686" y="1546352"/>
                    <a:pt x="24396700" y="1546352"/>
                  </a:cubicBezTo>
                  <a:lnTo>
                    <a:pt x="12700" y="1546352"/>
                  </a:lnTo>
                  <a:cubicBezTo>
                    <a:pt x="5715" y="1546352"/>
                    <a:pt x="0" y="1540637"/>
                    <a:pt x="0" y="1533652"/>
                  </a:cubicBezTo>
                  <a:lnTo>
                    <a:pt x="0" y="12700"/>
                  </a:lnTo>
                  <a:cubicBezTo>
                    <a:pt x="0" y="5715"/>
                    <a:pt x="5715" y="0"/>
                    <a:pt x="12700" y="0"/>
                  </a:cubicBezTo>
                  <a:moveTo>
                    <a:pt x="12700" y="25400"/>
                  </a:moveTo>
                  <a:lnTo>
                    <a:pt x="12700" y="12700"/>
                  </a:lnTo>
                  <a:lnTo>
                    <a:pt x="25400" y="12700"/>
                  </a:lnTo>
                  <a:lnTo>
                    <a:pt x="25400" y="1533652"/>
                  </a:lnTo>
                  <a:lnTo>
                    <a:pt x="12700" y="1533652"/>
                  </a:lnTo>
                  <a:lnTo>
                    <a:pt x="12700" y="1520952"/>
                  </a:lnTo>
                  <a:lnTo>
                    <a:pt x="24396700" y="1520952"/>
                  </a:lnTo>
                  <a:lnTo>
                    <a:pt x="24396700" y="1533652"/>
                  </a:lnTo>
                  <a:lnTo>
                    <a:pt x="24384000" y="1533652"/>
                  </a:lnTo>
                  <a:lnTo>
                    <a:pt x="24384000" y="12700"/>
                  </a:lnTo>
                  <a:lnTo>
                    <a:pt x="24396700" y="12700"/>
                  </a:lnTo>
                  <a:lnTo>
                    <a:pt x="24396700" y="25400"/>
                  </a:lnTo>
                  <a:lnTo>
                    <a:pt x="12700" y="25400"/>
                  </a:lnTo>
                  <a:close/>
                </a:path>
              </a:pathLst>
            </a:custGeom>
            <a:solidFill>
              <a:srgbClr val="41719C"/>
            </a:solidFill>
          </p:spPr>
        </p:sp>
      </p:grpSp>
      <p:grpSp>
        <p:nvGrpSpPr>
          <p:cNvPr name="Group 8" id="8"/>
          <p:cNvGrpSpPr>
            <a:grpSpLocks noChangeAspect="true"/>
          </p:cNvGrpSpPr>
          <p:nvPr/>
        </p:nvGrpSpPr>
        <p:grpSpPr>
          <a:xfrm rot="0">
            <a:off x="0" y="385834"/>
            <a:ext cx="3571591" cy="1718842"/>
            <a:chOff x="0" y="0"/>
            <a:chExt cx="4762122" cy="2291790"/>
          </a:xfrm>
        </p:grpSpPr>
        <p:sp>
          <p:nvSpPr>
            <p:cNvPr name="Freeform 9" id="9"/>
            <p:cNvSpPr/>
            <p:nvPr/>
          </p:nvSpPr>
          <p:spPr>
            <a:xfrm flipH="false" flipV="false" rot="0">
              <a:off x="0" y="0"/>
              <a:ext cx="4762119" cy="2291842"/>
            </a:xfrm>
            <a:custGeom>
              <a:avLst/>
              <a:gdLst/>
              <a:ahLst/>
              <a:cxnLst/>
              <a:rect r="r" b="b" t="t" l="l"/>
              <a:pathLst>
                <a:path h="2291842" w="4762119">
                  <a:moveTo>
                    <a:pt x="0" y="0"/>
                  </a:moveTo>
                  <a:lnTo>
                    <a:pt x="4762119" y="0"/>
                  </a:lnTo>
                  <a:lnTo>
                    <a:pt x="4762119" y="2291842"/>
                  </a:lnTo>
                  <a:lnTo>
                    <a:pt x="0" y="2291842"/>
                  </a:lnTo>
                  <a:lnTo>
                    <a:pt x="0" y="0"/>
                  </a:lnTo>
                  <a:close/>
                </a:path>
              </a:pathLst>
            </a:custGeom>
            <a:blipFill>
              <a:blip r:embed="rId2"/>
              <a:stretch>
                <a:fillRect l="0" t="-43" r="0" b="-41"/>
              </a:stretch>
            </a:blipFill>
          </p:spPr>
        </p:sp>
      </p:grpSp>
      <p:sp>
        <p:nvSpPr>
          <p:cNvPr name="Freeform 10" id="10"/>
          <p:cNvSpPr/>
          <p:nvPr/>
        </p:nvSpPr>
        <p:spPr>
          <a:xfrm flipH="false" flipV="false" rot="0">
            <a:off x="8998798" y="5143500"/>
            <a:ext cx="8999215" cy="4612098"/>
          </a:xfrm>
          <a:custGeom>
            <a:avLst/>
            <a:gdLst/>
            <a:ahLst/>
            <a:cxnLst/>
            <a:rect r="r" b="b" t="t" l="l"/>
            <a:pathLst>
              <a:path h="4612098" w="8999215">
                <a:moveTo>
                  <a:pt x="0" y="0"/>
                </a:moveTo>
                <a:lnTo>
                  <a:pt x="8999216" y="0"/>
                </a:lnTo>
                <a:lnTo>
                  <a:pt x="8999216" y="4612098"/>
                </a:lnTo>
                <a:lnTo>
                  <a:pt x="0" y="4612098"/>
                </a:lnTo>
                <a:lnTo>
                  <a:pt x="0" y="0"/>
                </a:lnTo>
                <a:close/>
              </a:path>
            </a:pathLst>
          </a:custGeom>
          <a:blipFill>
            <a:blip r:embed="rId3">
              <a:alphaModFix amt="7999"/>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706538" y="3948991"/>
            <a:ext cx="9217152" cy="2141368"/>
          </a:xfrm>
          <a:prstGeom prst="rect">
            <a:avLst/>
          </a:prstGeom>
        </p:spPr>
        <p:txBody>
          <a:bodyPr anchor="t" rtlCol="false" tIns="0" lIns="0" bIns="0" rIns="0">
            <a:spAutoFit/>
          </a:bodyPr>
          <a:lstStyle/>
          <a:p>
            <a:pPr algn="ctr">
              <a:lnSpc>
                <a:spcPts val="14400"/>
              </a:lnSpc>
            </a:pPr>
            <a:r>
              <a:rPr lang="en-US" sz="12000" b="true">
                <a:solidFill>
                  <a:srgbClr val="C00000"/>
                </a:solidFill>
                <a:latin typeface="Calibri (MS) Bold"/>
                <a:ea typeface="Calibri (MS) Bold"/>
                <a:cs typeface="Calibri (MS) Bold"/>
                <a:sym typeface="Calibri (MS) Bold"/>
              </a:rPr>
              <a:t>Thank You</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DAGzNQhldbE</dc:identifier>
  <dcterms:modified xsi:type="dcterms:W3CDTF">2011-08-01T06:04:30Z</dcterms:modified>
  <cp:revision>1</cp:revision>
  <dc:title>Review2evosproject.pptx</dc:title>
</cp:coreProperties>
</file>